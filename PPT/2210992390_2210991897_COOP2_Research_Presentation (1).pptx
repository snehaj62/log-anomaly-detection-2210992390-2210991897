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14D77F0-955F-4A62-8243-05732228FB54}">
  <a:tblStyle styleId="{C14D77F0-955F-4A62-8243-05732228FB5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 name="Google Shape;4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0" y="0"/>
            <a:ext cx="9144000" cy="837590"/>
          </a:xfrm>
          <a:prstGeom prst="rect">
            <a:avLst/>
          </a:prstGeom>
          <a:solidFill>
            <a:srgbClr val="FF3300"/>
          </a:solidFill>
          <a:ln cap="flat" cmpd="sng" w="12700">
            <a:solidFill>
              <a:srgbClr val="FF3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logo2.jpeg" id="17" name="Google Shape;17;p3"/>
          <p:cNvPicPr preferRelativeResize="0"/>
          <p:nvPr/>
        </p:nvPicPr>
        <p:blipFill rotWithShape="1">
          <a:blip r:embed="rId3">
            <a:alphaModFix/>
          </a:blip>
          <a:srcRect b="0" l="0" r="0" t="0"/>
          <a:stretch/>
        </p:blipFill>
        <p:spPr>
          <a:xfrm>
            <a:off x="6553505" y="228600"/>
            <a:ext cx="2057400" cy="634594"/>
          </a:xfrm>
          <a:prstGeom prst="rect">
            <a:avLst/>
          </a:prstGeom>
          <a:noFill/>
          <a:ln>
            <a:noFill/>
          </a:ln>
        </p:spPr>
      </p:pic>
      <p:sp>
        <p:nvSpPr>
          <p:cNvPr id="18" name="Google Shape;18;p3"/>
          <p:cNvSpPr/>
          <p:nvPr/>
        </p:nvSpPr>
        <p:spPr>
          <a:xfrm>
            <a:off x="0" y="6656832"/>
            <a:ext cx="9144000" cy="201168"/>
          </a:xfrm>
          <a:prstGeom prst="rect">
            <a:avLst/>
          </a:prstGeom>
          <a:solidFill>
            <a:srgbClr val="FF0000"/>
          </a:solidFill>
          <a:ln cap="flat" cmpd="sng" w="127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365760" y="1005840"/>
            <a:ext cx="84124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800"/>
              <a:buFont typeface="Times New Roman"/>
              <a:buNone/>
            </a:pPr>
            <a:r>
              <a:rPr b="1" i="0" lang="en-US" sz="2100" u="none" cap="none" strike="noStrike">
                <a:solidFill>
                  <a:srgbClr val="000000"/>
                </a:solidFill>
                <a:latin typeface="Times New Roman"/>
                <a:ea typeface="Times New Roman"/>
                <a:cs typeface="Times New Roman"/>
                <a:sym typeface="Times New Roman"/>
              </a:rPr>
              <a:t>Project Presentation of CO-OP Project at Industry (Module-2) (22CS421)</a:t>
            </a:r>
            <a:endParaRPr b="0" i="0" sz="2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1600"/>
              <a:buFont typeface="Times New Roman"/>
              <a:buNone/>
            </a:pPr>
            <a:r>
              <a:rPr b="0" i="0" lang="en-US" sz="2100" u="none" cap="none" strike="noStrike">
                <a:solidFill>
                  <a:srgbClr val="000000"/>
                </a:solidFill>
                <a:latin typeface="Times New Roman"/>
                <a:ea typeface="Times New Roman"/>
                <a:cs typeface="Times New Roman"/>
                <a:sym typeface="Times New Roman"/>
              </a:rPr>
              <a:t>On</a:t>
            </a:r>
            <a:endParaRPr b="0" i="0" sz="2100" u="none" cap="none" strike="noStrike">
              <a:solidFill>
                <a:schemeClr val="dk1"/>
              </a:solidFill>
              <a:latin typeface="Calibri"/>
              <a:ea typeface="Calibri"/>
              <a:cs typeface="Calibri"/>
              <a:sym typeface="Calibri"/>
            </a:endParaRPr>
          </a:p>
        </p:txBody>
      </p:sp>
      <p:sp>
        <p:nvSpPr>
          <p:cNvPr id="20" name="Google Shape;20;p3"/>
          <p:cNvSpPr/>
          <p:nvPr/>
        </p:nvSpPr>
        <p:spPr>
          <a:xfrm>
            <a:off x="457200" y="1874520"/>
            <a:ext cx="822960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400"/>
              <a:buFont typeface="Times New Roman"/>
              <a:buNone/>
            </a:pPr>
            <a:r>
              <a:rPr b="0" i="0" lang="en-US" sz="2500" u="none" cap="none" strike="noStrike">
                <a:solidFill>
                  <a:srgbClr val="000000"/>
                </a:solidFill>
                <a:latin typeface="Times New Roman"/>
                <a:ea typeface="Times New Roman"/>
                <a:cs typeface="Times New Roman"/>
                <a:sym typeface="Times New Roman"/>
              </a:rPr>
              <a:t>Comparative Evaluation of Rule-Based and Lightweight Machine Learning Approaches for Log Anomaly Detection</a:t>
            </a:r>
            <a:endParaRPr b="0" i="0" sz="2500" u="none" cap="none" strike="noStrike">
              <a:solidFill>
                <a:schemeClr val="dk1"/>
              </a:solidFill>
              <a:latin typeface="Calibri"/>
              <a:ea typeface="Calibri"/>
              <a:cs typeface="Calibri"/>
              <a:sym typeface="Calibri"/>
            </a:endParaRPr>
          </a:p>
        </p:txBody>
      </p:sp>
      <p:sp>
        <p:nvSpPr>
          <p:cNvPr id="21" name="Google Shape;21;p3"/>
          <p:cNvSpPr/>
          <p:nvPr/>
        </p:nvSpPr>
        <p:spPr>
          <a:xfrm>
            <a:off x="365760" y="3200400"/>
            <a:ext cx="84124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800"/>
              <a:buFont typeface="Times New Roman"/>
              <a:buNone/>
            </a:pPr>
            <a:r>
              <a:rPr b="0" i="0" lang="en-US" sz="2000" u="none" cap="none" strike="noStrike">
                <a:solidFill>
                  <a:srgbClr val="000000"/>
                </a:solidFill>
                <a:latin typeface="Times New Roman"/>
                <a:ea typeface="Times New Roman"/>
                <a:cs typeface="Times New Roman"/>
                <a:sym typeface="Times New Roman"/>
              </a:rPr>
              <a:t>Manya Bajaj  (2210991897)        Sneha Jindal  (2210992390)</a:t>
            </a:r>
            <a:endParaRPr b="0" i="0" sz="2000" u="none" cap="none" strike="noStrike">
              <a:solidFill>
                <a:schemeClr val="dk1"/>
              </a:solidFill>
              <a:latin typeface="Calibri"/>
              <a:ea typeface="Calibri"/>
              <a:cs typeface="Calibri"/>
              <a:sym typeface="Calibri"/>
            </a:endParaRPr>
          </a:p>
        </p:txBody>
      </p:sp>
      <p:sp>
        <p:nvSpPr>
          <p:cNvPr id="22" name="Google Shape;22;p3"/>
          <p:cNvSpPr/>
          <p:nvPr/>
        </p:nvSpPr>
        <p:spPr>
          <a:xfrm>
            <a:off x="365760" y="3611880"/>
            <a:ext cx="84124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800"/>
              <a:buFont typeface="Times New Roman"/>
              <a:buNone/>
            </a:pPr>
            <a:r>
              <a:rPr b="0" i="0" lang="en-US" sz="2000" u="none" cap="none" strike="noStrike">
                <a:solidFill>
                  <a:srgbClr val="000000"/>
                </a:solidFill>
                <a:latin typeface="Times New Roman"/>
                <a:ea typeface="Times New Roman"/>
                <a:cs typeface="Times New Roman"/>
                <a:sym typeface="Times New Roman"/>
              </a:rPr>
              <a:t>Supervised By</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1800"/>
              <a:buFont typeface="Times New Roman"/>
              <a:buNone/>
            </a:pPr>
            <a:r>
              <a:rPr b="0" i="0" lang="en-US" sz="2000" u="none" cap="none" strike="noStrike">
                <a:solidFill>
                  <a:srgbClr val="000000"/>
                </a:solidFill>
                <a:latin typeface="Times New Roman"/>
                <a:ea typeface="Times New Roman"/>
                <a:cs typeface="Times New Roman"/>
                <a:sym typeface="Times New Roman"/>
              </a:rPr>
              <a:t>Dr. Rajat Takkar</a:t>
            </a:r>
            <a:endParaRPr b="0" i="0" sz="2000" u="none" cap="none" strike="noStrike">
              <a:solidFill>
                <a:schemeClr val="dk1"/>
              </a:solidFill>
              <a:latin typeface="Calibri"/>
              <a:ea typeface="Calibri"/>
              <a:cs typeface="Calibri"/>
              <a:sym typeface="Calibri"/>
            </a:endParaRPr>
          </a:p>
        </p:txBody>
      </p:sp>
      <p:sp>
        <p:nvSpPr>
          <p:cNvPr id="23" name="Google Shape;23;p3"/>
          <p:cNvSpPr/>
          <p:nvPr/>
        </p:nvSpPr>
        <p:spPr>
          <a:xfrm>
            <a:off x="365760" y="4251960"/>
            <a:ext cx="841248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Department of Computer Science and Engineering,</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Chitkara University, Punjab</a:t>
            </a:r>
            <a:endParaRPr b="0" i="0" sz="2000" u="none" cap="none" strike="noStrike">
              <a:solidFill>
                <a:schemeClr val="dk1"/>
              </a:solidFill>
              <a:latin typeface="Calibri"/>
              <a:ea typeface="Calibri"/>
              <a:cs typeface="Calibri"/>
              <a:sym typeface="Calibri"/>
            </a:endParaRPr>
          </a:p>
        </p:txBody>
      </p:sp>
      <p:sp>
        <p:nvSpPr>
          <p:cNvPr id="24" name="Google Shape;24;p3"/>
          <p:cNvSpPr/>
          <p:nvPr/>
        </p:nvSpPr>
        <p:spPr>
          <a:xfrm>
            <a:off x="8686800" y="6492240"/>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F81BD"/>
              </a:buClr>
              <a:buSzPts val="1200"/>
              <a:buFont typeface="Times New Roman"/>
              <a:buNone/>
            </a:pPr>
            <a:r>
              <a:rPr b="0" i="0" lang="en-US" sz="1200" u="none" cap="none" strike="noStrike">
                <a:solidFill>
                  <a:srgbClr val="4F81BD"/>
                </a:solidFill>
                <a:latin typeface="Times New Roman"/>
                <a:ea typeface="Times New Roman"/>
                <a:cs typeface="Times New Roman"/>
                <a:sym typeface="Times New Roman"/>
              </a:rPr>
              <a:t>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4"/>
          <p:cNvSpPr/>
          <p:nvPr/>
        </p:nvSpPr>
        <p:spPr>
          <a:xfrm>
            <a:off x="0" y="0"/>
            <a:ext cx="9144000" cy="837590"/>
          </a:xfrm>
          <a:prstGeom prst="rect">
            <a:avLst/>
          </a:prstGeom>
          <a:solidFill>
            <a:srgbClr val="FF3300"/>
          </a:solidFill>
          <a:ln cap="flat" cmpd="sng" w="12700">
            <a:solidFill>
              <a:srgbClr val="FF3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logo2.jpeg" id="31" name="Google Shape;31;p4"/>
          <p:cNvPicPr preferRelativeResize="0"/>
          <p:nvPr/>
        </p:nvPicPr>
        <p:blipFill rotWithShape="1">
          <a:blip r:embed="rId3">
            <a:alphaModFix/>
          </a:blip>
          <a:srcRect b="0" l="0" r="0" t="0"/>
          <a:stretch/>
        </p:blipFill>
        <p:spPr>
          <a:xfrm>
            <a:off x="6553505" y="228600"/>
            <a:ext cx="2057400" cy="634594"/>
          </a:xfrm>
          <a:prstGeom prst="rect">
            <a:avLst/>
          </a:prstGeom>
          <a:noFill/>
          <a:ln>
            <a:noFill/>
          </a:ln>
        </p:spPr>
      </p:pic>
      <p:sp>
        <p:nvSpPr>
          <p:cNvPr id="32" name="Google Shape;32;p4"/>
          <p:cNvSpPr/>
          <p:nvPr/>
        </p:nvSpPr>
        <p:spPr>
          <a:xfrm>
            <a:off x="0" y="6656832"/>
            <a:ext cx="9144000" cy="201168"/>
          </a:xfrm>
          <a:prstGeom prst="rect">
            <a:avLst/>
          </a:prstGeom>
          <a:solidFill>
            <a:srgbClr val="FF0000"/>
          </a:solidFill>
          <a:ln cap="flat" cmpd="sng" w="127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274320" y="951893"/>
            <a:ext cx="6217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Times New Roman"/>
              <a:buNone/>
            </a:pPr>
            <a:r>
              <a:rPr b="1" i="0" lang="en-US" sz="3500" u="none" cap="none" strike="noStrike">
                <a:solidFill>
                  <a:srgbClr val="000000"/>
                </a:solidFill>
                <a:latin typeface="Times New Roman"/>
                <a:ea typeface="Times New Roman"/>
                <a:cs typeface="Times New Roman"/>
                <a:sym typeface="Times New Roman"/>
              </a:rPr>
              <a:t>Introduction</a:t>
            </a:r>
            <a:endParaRPr b="0" i="0" sz="3500" u="none" cap="none" strike="noStrike">
              <a:solidFill>
                <a:schemeClr val="dk1"/>
              </a:solidFill>
              <a:latin typeface="Calibri"/>
              <a:ea typeface="Calibri"/>
              <a:cs typeface="Calibri"/>
              <a:sym typeface="Calibri"/>
            </a:endParaRPr>
          </a:p>
        </p:txBody>
      </p:sp>
      <p:sp>
        <p:nvSpPr>
          <p:cNvPr id="34" name="Google Shape;34;p4"/>
          <p:cNvSpPr/>
          <p:nvPr/>
        </p:nvSpPr>
        <p:spPr>
          <a:xfrm>
            <a:off x="274320" y="1450238"/>
            <a:ext cx="8595360" cy="22860"/>
          </a:xfrm>
          <a:prstGeom prst="rect">
            <a:avLst/>
          </a:prstGeom>
          <a:solidFill>
            <a:srgbClr val="CCCCCC"/>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8686800" y="6492240"/>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F81BD"/>
              </a:buClr>
              <a:buSzPts val="1200"/>
              <a:buFont typeface="Times New Roman"/>
              <a:buNone/>
            </a:pPr>
            <a:r>
              <a:rPr b="0" i="0" lang="en-US" sz="1200" u="none" cap="none" strike="noStrike">
                <a:solidFill>
                  <a:srgbClr val="4F81BD"/>
                </a:solidFill>
                <a:latin typeface="Times New Roman"/>
                <a:ea typeface="Times New Roman"/>
                <a:cs typeface="Times New Roman"/>
                <a:sym typeface="Times New Roman"/>
              </a:rPr>
              <a:t>2</a:t>
            </a:r>
            <a:endParaRPr b="0" i="0" sz="1200" u="none" cap="none" strike="noStrike">
              <a:solidFill>
                <a:schemeClr val="dk1"/>
              </a:solidFill>
              <a:latin typeface="Calibri"/>
              <a:ea typeface="Calibri"/>
              <a:cs typeface="Calibri"/>
              <a:sym typeface="Calibri"/>
            </a:endParaRPr>
          </a:p>
        </p:txBody>
      </p:sp>
      <p:sp>
        <p:nvSpPr>
          <p:cNvPr id="36" name="Google Shape;36;p4"/>
          <p:cNvSpPr/>
          <p:nvPr/>
        </p:nvSpPr>
        <p:spPr>
          <a:xfrm>
            <a:off x="365760" y="1569110"/>
            <a:ext cx="8412480" cy="5486400"/>
          </a:xfrm>
          <a:prstGeom prst="rect">
            <a:avLst/>
          </a:prstGeom>
          <a:noFill/>
          <a:ln>
            <a:noFill/>
          </a:ln>
        </p:spPr>
        <p:txBody>
          <a:bodyPr anchorCtr="0" anchor="ctr" bIns="45700" lIns="91425" spcFirstLastPara="1" rIns="91425" wrap="square" tIns="45700">
            <a:noAutofit/>
          </a:bodyPr>
          <a:lstStyle/>
          <a:p>
            <a:pPr indent="-368300" lvl="0" marL="342900" marR="0" rtl="0" algn="l">
              <a:spcBef>
                <a:spcPts val="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Modern software systems generate massive volumes of logs during operation — recording errors, requests, and performance data.</a:t>
            </a:r>
            <a:endParaRPr b="0" i="0" sz="1800" u="none" cap="none" strike="noStrike">
              <a:solidFill>
                <a:schemeClr val="dk1"/>
              </a:solidFill>
              <a:latin typeface="Calibri"/>
              <a:ea typeface="Calibri"/>
              <a:cs typeface="Calibri"/>
              <a:sym typeface="Calibri"/>
            </a:endParaRPr>
          </a:p>
          <a:p>
            <a:pPr indent="-368300" lvl="0" marL="342900" marR="0" rtl="0" algn="l">
              <a:spcBef>
                <a:spcPts val="6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As applications scale, manual log monitoring becomes impractical; engineers must sift through millions of entries daily.</a:t>
            </a:r>
            <a:endParaRPr b="0" i="0" sz="1800" u="none" cap="none" strike="noStrike">
              <a:solidFill>
                <a:schemeClr val="dk1"/>
              </a:solidFill>
              <a:latin typeface="Calibri"/>
              <a:ea typeface="Calibri"/>
              <a:cs typeface="Calibri"/>
              <a:sym typeface="Calibri"/>
            </a:endParaRPr>
          </a:p>
          <a:p>
            <a:pPr indent="-368300" lvl="0" marL="342900" marR="0" rtl="0" algn="l">
              <a:spcBef>
                <a:spcPts val="6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Traditional rule-based systems use static thresholds and pattern matching — simple but prone to high false positive rates and limited adaptability.</a:t>
            </a:r>
            <a:endParaRPr b="0" i="0" sz="1800" u="none" cap="none" strike="noStrike">
              <a:solidFill>
                <a:schemeClr val="dk1"/>
              </a:solidFill>
              <a:latin typeface="Calibri"/>
              <a:ea typeface="Calibri"/>
              <a:cs typeface="Calibri"/>
              <a:sym typeface="Calibri"/>
            </a:endParaRPr>
          </a:p>
          <a:p>
            <a:pPr indent="-368300" lvl="0" marL="342900" marR="0" rtl="0" algn="l">
              <a:spcBef>
                <a:spcPts val="6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Machine learning enables automated pattern learning from historical logs, detecting subtle anomalies beyond static rules.</a:t>
            </a:r>
            <a:endParaRPr b="0" i="0" sz="1800" u="none" cap="none" strike="noStrike">
              <a:solidFill>
                <a:schemeClr val="dk1"/>
              </a:solidFill>
              <a:latin typeface="Calibri"/>
              <a:ea typeface="Calibri"/>
              <a:cs typeface="Calibri"/>
              <a:sym typeface="Calibri"/>
            </a:endParaRPr>
          </a:p>
          <a:p>
            <a:pPr indent="-368300" lvl="0" marL="342900" marR="0" rtl="0" algn="l">
              <a:spcBef>
                <a:spcPts val="6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Log anomaly detection is critical for reliability, reduced downtime, and strengthened cybersecurity in backend monitoring systems.</a:t>
            </a:r>
            <a:endParaRPr b="0" i="0" sz="1800" u="none" cap="none" strike="noStrike">
              <a:solidFill>
                <a:schemeClr val="dk1"/>
              </a:solidFill>
              <a:latin typeface="Calibri"/>
              <a:ea typeface="Calibri"/>
              <a:cs typeface="Calibri"/>
              <a:sym typeface="Calibri"/>
            </a:endParaRPr>
          </a:p>
          <a:p>
            <a:pPr indent="-368300" lvl="0" marL="342900" marR="0" rtl="0" algn="l">
              <a:spcBef>
                <a:spcPts val="6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This research evaluates and compares rule-based methods with lightweight ML models (Logistic Regression &amp; Isolation Forest) across key performance metrics.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5"/>
          <p:cNvSpPr/>
          <p:nvPr/>
        </p:nvSpPr>
        <p:spPr>
          <a:xfrm>
            <a:off x="0" y="0"/>
            <a:ext cx="9144000" cy="837590"/>
          </a:xfrm>
          <a:prstGeom prst="rect">
            <a:avLst/>
          </a:prstGeom>
          <a:solidFill>
            <a:srgbClr val="FF3300"/>
          </a:solidFill>
          <a:ln cap="flat" cmpd="sng" w="12700">
            <a:solidFill>
              <a:srgbClr val="FF3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logo2.jpeg" id="43" name="Google Shape;43;p5"/>
          <p:cNvPicPr preferRelativeResize="0"/>
          <p:nvPr/>
        </p:nvPicPr>
        <p:blipFill rotWithShape="1">
          <a:blip r:embed="rId3">
            <a:alphaModFix/>
          </a:blip>
          <a:srcRect b="0" l="0" r="0" t="0"/>
          <a:stretch/>
        </p:blipFill>
        <p:spPr>
          <a:xfrm>
            <a:off x="6553505" y="228600"/>
            <a:ext cx="2057400" cy="634594"/>
          </a:xfrm>
          <a:prstGeom prst="rect">
            <a:avLst/>
          </a:prstGeom>
          <a:noFill/>
          <a:ln>
            <a:noFill/>
          </a:ln>
        </p:spPr>
      </p:pic>
      <p:sp>
        <p:nvSpPr>
          <p:cNvPr id="44" name="Google Shape;44;p5"/>
          <p:cNvSpPr/>
          <p:nvPr/>
        </p:nvSpPr>
        <p:spPr>
          <a:xfrm>
            <a:off x="0" y="6656832"/>
            <a:ext cx="9144000" cy="201168"/>
          </a:xfrm>
          <a:prstGeom prst="rect">
            <a:avLst/>
          </a:prstGeom>
          <a:solidFill>
            <a:srgbClr val="FF0000"/>
          </a:solidFill>
          <a:ln cap="flat" cmpd="sng" w="127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a:off x="274320" y="92903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Times New Roman"/>
              <a:buNone/>
            </a:pPr>
            <a:r>
              <a:rPr b="1" i="0" lang="en-US" sz="3500" u="none" cap="none" strike="noStrike">
                <a:solidFill>
                  <a:srgbClr val="000000"/>
                </a:solidFill>
                <a:latin typeface="Times New Roman"/>
                <a:ea typeface="Times New Roman"/>
                <a:cs typeface="Times New Roman"/>
                <a:sym typeface="Times New Roman"/>
              </a:rPr>
              <a:t>Background and Related Work</a:t>
            </a:r>
            <a:endParaRPr b="0" i="0" sz="3500" u="none" cap="none" strike="noStrike">
              <a:solidFill>
                <a:schemeClr val="dk1"/>
              </a:solidFill>
              <a:latin typeface="Calibri"/>
              <a:ea typeface="Calibri"/>
              <a:cs typeface="Calibri"/>
              <a:sym typeface="Calibri"/>
            </a:endParaRPr>
          </a:p>
        </p:txBody>
      </p:sp>
      <p:sp>
        <p:nvSpPr>
          <p:cNvPr id="46" name="Google Shape;46;p5"/>
          <p:cNvSpPr/>
          <p:nvPr/>
        </p:nvSpPr>
        <p:spPr>
          <a:xfrm>
            <a:off x="274320" y="1450238"/>
            <a:ext cx="8595360" cy="22860"/>
          </a:xfrm>
          <a:prstGeom prst="rect">
            <a:avLst/>
          </a:prstGeom>
          <a:solidFill>
            <a:srgbClr val="CCCCCC"/>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8686800" y="6492240"/>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F81BD"/>
              </a:buClr>
              <a:buSzPts val="1200"/>
              <a:buFont typeface="Times New Roman"/>
              <a:buNone/>
            </a:pPr>
            <a:r>
              <a:rPr b="0" i="0" lang="en-US" sz="1200" u="none" cap="none" strike="noStrike">
                <a:solidFill>
                  <a:srgbClr val="4F81BD"/>
                </a:solidFill>
                <a:latin typeface="Times New Roman"/>
                <a:ea typeface="Times New Roman"/>
                <a:cs typeface="Times New Roman"/>
                <a:sym typeface="Times New Roman"/>
              </a:rPr>
              <a:t>3</a:t>
            </a:r>
            <a:endParaRPr b="0" i="0" sz="1200" u="none" cap="none" strike="noStrike">
              <a:solidFill>
                <a:schemeClr val="dk1"/>
              </a:solidFill>
              <a:latin typeface="Calibri"/>
              <a:ea typeface="Calibri"/>
              <a:cs typeface="Calibri"/>
              <a:sym typeface="Calibri"/>
            </a:endParaRPr>
          </a:p>
        </p:txBody>
      </p:sp>
      <p:sp>
        <p:nvSpPr>
          <p:cNvPr id="48" name="Google Shape;48;p5"/>
          <p:cNvSpPr/>
          <p:nvPr/>
        </p:nvSpPr>
        <p:spPr>
          <a:xfrm>
            <a:off x="365760" y="1569110"/>
            <a:ext cx="8412480" cy="5486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400"/>
              <a:buFont typeface="Times New Roman"/>
              <a:buNone/>
            </a:pPr>
            <a:r>
              <a:rPr b="1" i="0" lang="en-US" sz="1800" u="none" cap="none" strike="noStrike">
                <a:solidFill>
                  <a:srgbClr val="000000"/>
                </a:solidFill>
                <a:latin typeface="Times New Roman"/>
                <a:ea typeface="Times New Roman"/>
                <a:cs typeface="Times New Roman"/>
                <a:sym typeface="Times New Roman"/>
              </a:rPr>
              <a:t>Rule-Based Approaches:</a:t>
            </a:r>
            <a:endParaRPr b="0" i="0" sz="1800" u="none" cap="none" strike="noStrike">
              <a:solidFill>
                <a:schemeClr val="dk1"/>
              </a:solidFill>
              <a:latin typeface="Calibri"/>
              <a:ea typeface="Calibri"/>
              <a:cs typeface="Calibri"/>
              <a:sym typeface="Calibri"/>
            </a:endParaRPr>
          </a:p>
          <a:p>
            <a:pPr indent="-368300" lvl="1" marL="685800" marR="0" rtl="0" algn="l">
              <a:spcBef>
                <a:spcPts val="3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Early log anomaly detection used predefined thresholds and heuristic rules — simple and efficient but limited in adaptability.</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00000"/>
              </a:buClr>
              <a:buSzPts val="1400"/>
              <a:buFont typeface="Times New Roman"/>
              <a:buNone/>
            </a:pPr>
            <a:r>
              <a:rPr b="1" i="0" lang="en-US" sz="1800" u="none" cap="none" strike="noStrike">
                <a:solidFill>
                  <a:srgbClr val="000000"/>
                </a:solidFill>
                <a:latin typeface="Times New Roman"/>
                <a:ea typeface="Times New Roman"/>
                <a:cs typeface="Times New Roman"/>
                <a:sym typeface="Times New Roman"/>
              </a:rPr>
              <a:t>Statistical Methods:</a:t>
            </a:r>
            <a:endParaRPr b="0" i="0" sz="1800" u="none" cap="none" strike="noStrike">
              <a:solidFill>
                <a:schemeClr val="dk1"/>
              </a:solidFill>
              <a:latin typeface="Calibri"/>
              <a:ea typeface="Calibri"/>
              <a:cs typeface="Calibri"/>
              <a:sym typeface="Calibri"/>
            </a:endParaRPr>
          </a:p>
          <a:p>
            <a:pPr indent="-368300" lvl="1" marL="685800" marR="0" rtl="0" algn="l">
              <a:spcBef>
                <a:spcPts val="3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PCA and clustering algorithms identified abnormal log distributions but struggled with high-dimensional unstructured data.</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00000"/>
              </a:buClr>
              <a:buSzPts val="1400"/>
              <a:buFont typeface="Times New Roman"/>
              <a:buNone/>
            </a:pPr>
            <a:r>
              <a:rPr b="1" i="0" lang="en-US" sz="1800" u="none" cap="none" strike="noStrike">
                <a:solidFill>
                  <a:srgbClr val="000000"/>
                </a:solidFill>
                <a:latin typeface="Times New Roman"/>
                <a:ea typeface="Times New Roman"/>
                <a:cs typeface="Times New Roman"/>
                <a:sym typeface="Times New Roman"/>
              </a:rPr>
              <a:t>Machine Learning Approaches:</a:t>
            </a:r>
            <a:endParaRPr b="0" i="0" sz="1800" u="none" cap="none" strike="noStrike">
              <a:solidFill>
                <a:schemeClr val="dk1"/>
              </a:solidFill>
              <a:latin typeface="Calibri"/>
              <a:ea typeface="Calibri"/>
              <a:cs typeface="Calibri"/>
              <a:sym typeface="Calibri"/>
            </a:endParaRPr>
          </a:p>
          <a:p>
            <a:pPr indent="-368300" lvl="1" marL="685800" marR="0" rtl="0" algn="l">
              <a:spcBef>
                <a:spcPts val="3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SVM, Random Forest, Logistic Regression, and Isolation Forest applied to log classification with improved adaptability and accuracy.</a:t>
            </a:r>
            <a:endParaRPr b="0" i="0" sz="1800" u="none" cap="none" strike="noStrike">
              <a:solidFill>
                <a:schemeClr val="dk1"/>
              </a:solidFill>
              <a:latin typeface="Calibri"/>
              <a:ea typeface="Calibri"/>
              <a:cs typeface="Calibri"/>
              <a:sym typeface="Calibri"/>
            </a:endParaRPr>
          </a:p>
          <a:p>
            <a:pPr indent="-368300" lvl="1" marL="685800" marR="0" rtl="0" algn="l">
              <a:spcBef>
                <a:spcPts val="3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Isolation Forest isolates anomalies via random decision trees — minimal tuning, scales to large datasets.</a:t>
            </a:r>
            <a:endParaRPr b="0" i="0" sz="18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000000"/>
              </a:buClr>
              <a:buSzPts val="1400"/>
              <a:buFont typeface="Times New Roman"/>
              <a:buNone/>
            </a:pPr>
            <a:r>
              <a:rPr b="1" i="0" lang="en-US" sz="1800" u="none" cap="none" strike="noStrike">
                <a:solidFill>
                  <a:srgbClr val="000000"/>
                </a:solidFill>
                <a:latin typeface="Times New Roman"/>
                <a:ea typeface="Times New Roman"/>
                <a:cs typeface="Times New Roman"/>
                <a:sym typeface="Times New Roman"/>
              </a:rPr>
              <a:t>Deep Learning (LSTM, DeepLog, BERT-based):</a:t>
            </a:r>
            <a:endParaRPr b="0" i="0" sz="1800" u="none" cap="none" strike="noStrike">
              <a:solidFill>
                <a:schemeClr val="dk1"/>
              </a:solidFill>
              <a:latin typeface="Calibri"/>
              <a:ea typeface="Calibri"/>
              <a:cs typeface="Calibri"/>
              <a:sym typeface="Calibri"/>
            </a:endParaRPr>
          </a:p>
          <a:p>
            <a:pPr indent="-368300" lvl="1" marL="685800" marR="0" rtl="0" algn="l">
              <a:spcBef>
                <a:spcPts val="3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Transformer-based models learn semantic log representations but require large labeled data and high compute — unsuitable for lightweight real-time deployment.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6"/>
          <p:cNvSpPr/>
          <p:nvPr/>
        </p:nvSpPr>
        <p:spPr>
          <a:xfrm>
            <a:off x="0" y="0"/>
            <a:ext cx="9144000" cy="837590"/>
          </a:xfrm>
          <a:prstGeom prst="rect">
            <a:avLst/>
          </a:prstGeom>
          <a:solidFill>
            <a:srgbClr val="FF3300"/>
          </a:solidFill>
          <a:ln cap="flat" cmpd="sng" w="12700">
            <a:solidFill>
              <a:srgbClr val="FF3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logo2.jpeg" id="55" name="Google Shape;55;p6"/>
          <p:cNvPicPr preferRelativeResize="0"/>
          <p:nvPr/>
        </p:nvPicPr>
        <p:blipFill rotWithShape="1">
          <a:blip r:embed="rId3">
            <a:alphaModFix/>
          </a:blip>
          <a:srcRect b="0" l="0" r="0" t="0"/>
          <a:stretch/>
        </p:blipFill>
        <p:spPr>
          <a:xfrm>
            <a:off x="6553505" y="228600"/>
            <a:ext cx="2057400" cy="634594"/>
          </a:xfrm>
          <a:prstGeom prst="rect">
            <a:avLst/>
          </a:prstGeom>
          <a:noFill/>
          <a:ln>
            <a:noFill/>
          </a:ln>
        </p:spPr>
      </p:pic>
      <p:sp>
        <p:nvSpPr>
          <p:cNvPr id="56" name="Google Shape;56;p6"/>
          <p:cNvSpPr/>
          <p:nvPr/>
        </p:nvSpPr>
        <p:spPr>
          <a:xfrm>
            <a:off x="0" y="6656832"/>
            <a:ext cx="9144000" cy="201168"/>
          </a:xfrm>
          <a:prstGeom prst="rect">
            <a:avLst/>
          </a:prstGeom>
          <a:solidFill>
            <a:srgbClr val="FF0000"/>
          </a:solidFill>
          <a:ln cap="flat" cmpd="sng" w="127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p:nvPr/>
        </p:nvSpPr>
        <p:spPr>
          <a:xfrm>
            <a:off x="274320" y="92903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Times New Roman"/>
              <a:buNone/>
            </a:pPr>
            <a:r>
              <a:rPr b="1" i="0" lang="en-US" sz="3500" u="none" cap="none" strike="noStrike">
                <a:solidFill>
                  <a:srgbClr val="000000"/>
                </a:solidFill>
                <a:latin typeface="Times New Roman"/>
                <a:ea typeface="Times New Roman"/>
                <a:cs typeface="Times New Roman"/>
                <a:sym typeface="Times New Roman"/>
              </a:rPr>
              <a:t>System Architecture</a:t>
            </a:r>
            <a:endParaRPr b="0" i="0" sz="3500" u="none" cap="none" strike="noStrike">
              <a:solidFill>
                <a:schemeClr val="dk1"/>
              </a:solidFill>
              <a:latin typeface="Calibri"/>
              <a:ea typeface="Calibri"/>
              <a:cs typeface="Calibri"/>
              <a:sym typeface="Calibri"/>
            </a:endParaRPr>
          </a:p>
        </p:txBody>
      </p:sp>
      <p:sp>
        <p:nvSpPr>
          <p:cNvPr id="58" name="Google Shape;58;p6"/>
          <p:cNvSpPr/>
          <p:nvPr/>
        </p:nvSpPr>
        <p:spPr>
          <a:xfrm>
            <a:off x="274320" y="1450238"/>
            <a:ext cx="8595360" cy="22860"/>
          </a:xfrm>
          <a:prstGeom prst="rect">
            <a:avLst/>
          </a:prstGeom>
          <a:solidFill>
            <a:srgbClr val="CCCCCC"/>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a:off x="8686800" y="6492240"/>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F81BD"/>
              </a:buClr>
              <a:buSzPts val="1200"/>
              <a:buFont typeface="Times New Roman"/>
              <a:buNone/>
            </a:pPr>
            <a:r>
              <a:rPr b="0" i="0" lang="en-US" sz="1200" u="none" cap="none" strike="noStrike">
                <a:solidFill>
                  <a:srgbClr val="4F81BD"/>
                </a:solidFill>
                <a:latin typeface="Times New Roman"/>
                <a:ea typeface="Times New Roman"/>
                <a:cs typeface="Times New Roman"/>
                <a:sym typeface="Times New Roman"/>
              </a:rPr>
              <a:t>4</a:t>
            </a:r>
            <a:endParaRPr b="0" i="0" sz="1200" u="none" cap="none" strike="noStrike">
              <a:solidFill>
                <a:schemeClr val="dk1"/>
              </a:solidFill>
              <a:latin typeface="Calibri"/>
              <a:ea typeface="Calibri"/>
              <a:cs typeface="Calibri"/>
              <a:sym typeface="Calibri"/>
            </a:endParaRPr>
          </a:p>
        </p:txBody>
      </p:sp>
      <p:sp>
        <p:nvSpPr>
          <p:cNvPr id="60" name="Google Shape;60;p6"/>
          <p:cNvSpPr/>
          <p:nvPr/>
        </p:nvSpPr>
        <p:spPr>
          <a:xfrm>
            <a:off x="182880" y="1920240"/>
            <a:ext cx="1508760" cy="1005840"/>
          </a:xfrm>
          <a:prstGeom prst="rect">
            <a:avLst/>
          </a:prstGeom>
          <a:solidFill>
            <a:srgbClr val="1F497D"/>
          </a:solidFill>
          <a:ln cap="flat" cmpd="sng" w="12700">
            <a:solidFill>
              <a:srgbClr val="1F497D"/>
            </a:solidFill>
            <a:prstDash val="solid"/>
            <a:round/>
            <a:headEnd len="sm" w="sm" type="none"/>
            <a:tailEnd len="sm" w="sm" type="none"/>
          </a:ln>
          <a:effectLst>
            <a:outerShdw blurRad="508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a:off x="182880" y="1920240"/>
            <a:ext cx="1508760" cy="100584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1. Log Data</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Collection</a:t>
            </a:r>
            <a:endParaRPr b="0" i="0" sz="1200" u="none" cap="none" strike="noStrike">
              <a:solidFill>
                <a:schemeClr val="dk1"/>
              </a:solidFill>
              <a:latin typeface="Calibri"/>
              <a:ea typeface="Calibri"/>
              <a:cs typeface="Calibri"/>
              <a:sym typeface="Calibri"/>
            </a:endParaRPr>
          </a:p>
        </p:txBody>
      </p:sp>
      <p:cxnSp>
        <p:nvCxnSpPr>
          <p:cNvPr id="62" name="Google Shape;62;p6"/>
          <p:cNvCxnSpPr/>
          <p:nvPr/>
        </p:nvCxnSpPr>
        <p:spPr>
          <a:xfrm>
            <a:off x="1691640" y="2423160"/>
            <a:ext cx="256032" cy="0"/>
          </a:xfrm>
          <a:prstGeom prst="straightConnector1">
            <a:avLst/>
          </a:prstGeom>
          <a:noFill/>
          <a:ln cap="flat" cmpd="sng" w="25400">
            <a:solidFill>
              <a:srgbClr val="555555"/>
            </a:solidFill>
            <a:prstDash val="solid"/>
            <a:round/>
            <a:headEnd len="sm" w="sm" type="none"/>
            <a:tailEnd len="sm" w="sm" type="none"/>
          </a:ln>
        </p:spPr>
      </p:cxnSp>
      <p:sp>
        <p:nvSpPr>
          <p:cNvPr id="63" name="Google Shape;63;p6"/>
          <p:cNvSpPr/>
          <p:nvPr/>
        </p:nvSpPr>
        <p:spPr>
          <a:xfrm>
            <a:off x="1947672" y="1920240"/>
            <a:ext cx="1508760" cy="1005840"/>
          </a:xfrm>
          <a:prstGeom prst="rect">
            <a:avLst/>
          </a:prstGeom>
          <a:solidFill>
            <a:srgbClr val="4F81BD"/>
          </a:solidFill>
          <a:ln cap="flat" cmpd="sng" w="12700">
            <a:solidFill>
              <a:srgbClr val="4F81BD"/>
            </a:solidFill>
            <a:prstDash val="solid"/>
            <a:round/>
            <a:headEnd len="sm" w="sm" type="none"/>
            <a:tailEnd len="sm" w="sm" type="none"/>
          </a:ln>
          <a:effectLst>
            <a:outerShdw blurRad="508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6"/>
          <p:cNvSpPr/>
          <p:nvPr/>
        </p:nvSpPr>
        <p:spPr>
          <a:xfrm>
            <a:off x="1947672" y="1920240"/>
            <a:ext cx="1508760" cy="100584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2. Log</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Preprocessing</a:t>
            </a:r>
            <a:endParaRPr b="0" i="0" sz="1200" u="none" cap="none" strike="noStrike">
              <a:solidFill>
                <a:schemeClr val="dk1"/>
              </a:solidFill>
              <a:latin typeface="Calibri"/>
              <a:ea typeface="Calibri"/>
              <a:cs typeface="Calibri"/>
              <a:sym typeface="Calibri"/>
            </a:endParaRPr>
          </a:p>
        </p:txBody>
      </p:sp>
      <p:cxnSp>
        <p:nvCxnSpPr>
          <p:cNvPr id="65" name="Google Shape;65;p6"/>
          <p:cNvCxnSpPr/>
          <p:nvPr/>
        </p:nvCxnSpPr>
        <p:spPr>
          <a:xfrm>
            <a:off x="3456432" y="2423160"/>
            <a:ext cx="256032" cy="0"/>
          </a:xfrm>
          <a:prstGeom prst="straightConnector1">
            <a:avLst/>
          </a:prstGeom>
          <a:noFill/>
          <a:ln cap="flat" cmpd="sng" w="25400">
            <a:solidFill>
              <a:srgbClr val="555555"/>
            </a:solidFill>
            <a:prstDash val="solid"/>
            <a:round/>
            <a:headEnd len="sm" w="sm" type="none"/>
            <a:tailEnd len="sm" w="sm" type="none"/>
          </a:ln>
        </p:spPr>
      </p:cxnSp>
      <p:sp>
        <p:nvSpPr>
          <p:cNvPr id="66" name="Google Shape;66;p6"/>
          <p:cNvSpPr/>
          <p:nvPr/>
        </p:nvSpPr>
        <p:spPr>
          <a:xfrm>
            <a:off x="3712464" y="1920240"/>
            <a:ext cx="1508760" cy="1005840"/>
          </a:xfrm>
          <a:prstGeom prst="rect">
            <a:avLst/>
          </a:prstGeom>
          <a:solidFill>
            <a:srgbClr val="028090"/>
          </a:solidFill>
          <a:ln cap="flat" cmpd="sng" w="12700">
            <a:solidFill>
              <a:srgbClr val="028090"/>
            </a:solidFill>
            <a:prstDash val="solid"/>
            <a:round/>
            <a:headEnd len="sm" w="sm" type="none"/>
            <a:tailEnd len="sm" w="sm" type="none"/>
          </a:ln>
          <a:effectLst>
            <a:outerShdw blurRad="508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3712464" y="1920240"/>
            <a:ext cx="1508760" cy="100584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3. Feature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Extraction</a:t>
            </a:r>
            <a:endParaRPr b="0" i="0" sz="1200" u="none" cap="none" strike="noStrike">
              <a:solidFill>
                <a:schemeClr val="dk1"/>
              </a:solidFill>
              <a:latin typeface="Calibri"/>
              <a:ea typeface="Calibri"/>
              <a:cs typeface="Calibri"/>
              <a:sym typeface="Calibri"/>
            </a:endParaRPr>
          </a:p>
        </p:txBody>
      </p:sp>
      <p:cxnSp>
        <p:nvCxnSpPr>
          <p:cNvPr id="68" name="Google Shape;68;p6"/>
          <p:cNvCxnSpPr/>
          <p:nvPr/>
        </p:nvCxnSpPr>
        <p:spPr>
          <a:xfrm>
            <a:off x="5221224" y="2423160"/>
            <a:ext cx="256032" cy="0"/>
          </a:xfrm>
          <a:prstGeom prst="straightConnector1">
            <a:avLst/>
          </a:prstGeom>
          <a:noFill/>
          <a:ln cap="flat" cmpd="sng" w="25400">
            <a:solidFill>
              <a:srgbClr val="555555"/>
            </a:solidFill>
            <a:prstDash val="solid"/>
            <a:round/>
            <a:headEnd len="sm" w="sm" type="none"/>
            <a:tailEnd len="sm" w="sm" type="none"/>
          </a:ln>
        </p:spPr>
      </p:cxnSp>
      <p:sp>
        <p:nvSpPr>
          <p:cNvPr id="69" name="Google Shape;69;p6"/>
          <p:cNvSpPr/>
          <p:nvPr/>
        </p:nvSpPr>
        <p:spPr>
          <a:xfrm>
            <a:off x="5477256" y="1920240"/>
            <a:ext cx="1508760" cy="1005840"/>
          </a:xfrm>
          <a:prstGeom prst="rect">
            <a:avLst/>
          </a:prstGeom>
          <a:solidFill>
            <a:srgbClr val="C0504D"/>
          </a:solidFill>
          <a:ln cap="flat" cmpd="sng" w="12700">
            <a:solidFill>
              <a:srgbClr val="C0504D"/>
            </a:solidFill>
            <a:prstDash val="solid"/>
            <a:round/>
            <a:headEnd len="sm" w="sm" type="none"/>
            <a:tailEnd len="sm" w="sm" type="none"/>
          </a:ln>
          <a:effectLst>
            <a:outerShdw blurRad="508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p:nvPr/>
        </p:nvSpPr>
        <p:spPr>
          <a:xfrm>
            <a:off x="5477256" y="1920240"/>
            <a:ext cx="1508760" cy="100584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4. Anomaly</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Detection Models</a:t>
            </a:r>
            <a:endParaRPr b="0" i="0" sz="1200" u="none" cap="none" strike="noStrike">
              <a:solidFill>
                <a:schemeClr val="dk1"/>
              </a:solidFill>
              <a:latin typeface="Calibri"/>
              <a:ea typeface="Calibri"/>
              <a:cs typeface="Calibri"/>
              <a:sym typeface="Calibri"/>
            </a:endParaRPr>
          </a:p>
        </p:txBody>
      </p:sp>
      <p:cxnSp>
        <p:nvCxnSpPr>
          <p:cNvPr id="71" name="Google Shape;71;p6"/>
          <p:cNvCxnSpPr/>
          <p:nvPr/>
        </p:nvCxnSpPr>
        <p:spPr>
          <a:xfrm>
            <a:off x="6986016" y="2423160"/>
            <a:ext cx="256032" cy="0"/>
          </a:xfrm>
          <a:prstGeom prst="straightConnector1">
            <a:avLst/>
          </a:prstGeom>
          <a:noFill/>
          <a:ln cap="flat" cmpd="sng" w="25400">
            <a:solidFill>
              <a:srgbClr val="555555"/>
            </a:solidFill>
            <a:prstDash val="solid"/>
            <a:round/>
            <a:headEnd len="sm" w="sm" type="none"/>
            <a:tailEnd len="sm" w="sm" type="none"/>
          </a:ln>
        </p:spPr>
      </p:cxnSp>
      <p:sp>
        <p:nvSpPr>
          <p:cNvPr id="72" name="Google Shape;72;p6"/>
          <p:cNvSpPr/>
          <p:nvPr/>
        </p:nvSpPr>
        <p:spPr>
          <a:xfrm>
            <a:off x="7242048" y="1920240"/>
            <a:ext cx="1508760" cy="1005840"/>
          </a:xfrm>
          <a:prstGeom prst="rect">
            <a:avLst/>
          </a:prstGeom>
          <a:solidFill>
            <a:srgbClr val="9BBB59"/>
          </a:solidFill>
          <a:ln cap="flat" cmpd="sng" w="12700">
            <a:solidFill>
              <a:srgbClr val="9BBB59"/>
            </a:solidFill>
            <a:prstDash val="solid"/>
            <a:round/>
            <a:headEnd len="sm" w="sm" type="none"/>
            <a:tailEnd len="sm" w="sm" type="none"/>
          </a:ln>
          <a:effectLst>
            <a:outerShdw blurRad="508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7242048" y="1920240"/>
            <a:ext cx="1508760" cy="100584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5. Evaluation &amp;</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Monitoring</a:t>
            </a:r>
            <a:endParaRPr b="0" i="0" sz="1200" u="none" cap="none" strike="noStrike">
              <a:solidFill>
                <a:schemeClr val="dk1"/>
              </a:solidFill>
              <a:latin typeface="Calibri"/>
              <a:ea typeface="Calibri"/>
              <a:cs typeface="Calibri"/>
              <a:sym typeface="Calibri"/>
            </a:endParaRPr>
          </a:p>
        </p:txBody>
      </p:sp>
      <p:sp>
        <p:nvSpPr>
          <p:cNvPr id="74" name="Google Shape;74;p6"/>
          <p:cNvSpPr/>
          <p:nvPr/>
        </p:nvSpPr>
        <p:spPr>
          <a:xfrm>
            <a:off x="365760" y="3063240"/>
            <a:ext cx="841248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55555"/>
              </a:buClr>
              <a:buSzPts val="1200"/>
              <a:buFont typeface="Times New Roman"/>
              <a:buNone/>
            </a:pPr>
            <a:r>
              <a:rPr b="0" i="1" lang="en-US" sz="1200" u="none" cap="none" strike="noStrike">
                <a:solidFill>
                  <a:srgbClr val="555555"/>
                </a:solidFill>
                <a:latin typeface="Times New Roman"/>
                <a:ea typeface="Times New Roman"/>
                <a:cs typeface="Times New Roman"/>
                <a:sym typeface="Times New Roman"/>
              </a:rPr>
              <a:t>Application servers, DBs &amp; distributed services → Preprocessing (normalize, tokenize) → TF-IDF &amp; frequency-based feature encoding → Rule-based &amp; ML detection → Performance metrics &amp; anomaly alerts</a:t>
            </a:r>
            <a:endParaRPr b="0" i="0" sz="1200" u="none" cap="none" strike="noStrike">
              <a:solidFill>
                <a:schemeClr val="dk1"/>
              </a:solidFill>
              <a:latin typeface="Calibri"/>
              <a:ea typeface="Calibri"/>
              <a:cs typeface="Calibri"/>
              <a:sym typeface="Calibri"/>
            </a:endParaRPr>
          </a:p>
        </p:txBody>
      </p:sp>
      <p:sp>
        <p:nvSpPr>
          <p:cNvPr id="75" name="Google Shape;75;p6"/>
          <p:cNvSpPr/>
          <p:nvPr/>
        </p:nvSpPr>
        <p:spPr>
          <a:xfrm>
            <a:off x="365760" y="3703320"/>
            <a:ext cx="8412480" cy="2743200"/>
          </a:xfrm>
          <a:prstGeom prst="rect">
            <a:avLst/>
          </a:prstGeom>
          <a:noFill/>
          <a:ln>
            <a:noFill/>
          </a:ln>
        </p:spPr>
        <p:txBody>
          <a:bodyPr anchorCtr="0" anchor="ctr" bIns="45700" lIns="91425" spcFirstLastPara="1" rIns="91425" wrap="square" tIns="45700">
            <a:noAutofit/>
          </a:bodyPr>
          <a:lstStyle/>
          <a:p>
            <a:pPr indent="-368300" lvl="0" marL="342900" marR="0" rtl="0" algn="l">
              <a:spcBef>
                <a:spcPts val="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Logs include timestamps, log levels, event messages &amp; system identifiers from all sources.</a:t>
            </a:r>
            <a:endParaRPr b="0" i="0" sz="1800" u="none" cap="none" strike="noStrike">
              <a:solidFill>
                <a:schemeClr val="dk1"/>
              </a:solidFill>
              <a:latin typeface="Calibri"/>
              <a:ea typeface="Calibri"/>
              <a:cs typeface="Calibri"/>
              <a:sym typeface="Calibri"/>
            </a:endParaRPr>
          </a:p>
          <a:p>
            <a:pPr indent="-368300" lvl="0" marL="342900" marR="0" rtl="0" algn="l">
              <a:spcBef>
                <a:spcPts val="4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Irrelevant attributes removed; log messages tokenized and converted to structured representations.</a:t>
            </a:r>
            <a:endParaRPr b="0" i="0" sz="1800" u="none" cap="none" strike="noStrike">
              <a:solidFill>
                <a:schemeClr val="dk1"/>
              </a:solidFill>
              <a:latin typeface="Calibri"/>
              <a:ea typeface="Calibri"/>
              <a:cs typeface="Calibri"/>
              <a:sym typeface="Calibri"/>
            </a:endParaRPr>
          </a:p>
          <a:p>
            <a:pPr indent="-368300" lvl="0" marL="342900" marR="0" rtl="0" algn="l">
              <a:spcBef>
                <a:spcPts val="4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Feature extraction via TF-IDF vectorization and frequency-based encoding.</a:t>
            </a:r>
            <a:endParaRPr b="0" i="0" sz="1800" u="none" cap="none" strike="noStrike">
              <a:solidFill>
                <a:schemeClr val="dk1"/>
              </a:solidFill>
              <a:latin typeface="Calibri"/>
              <a:ea typeface="Calibri"/>
              <a:cs typeface="Calibri"/>
              <a:sym typeface="Calibri"/>
            </a:endParaRPr>
          </a:p>
          <a:p>
            <a:pPr indent="-368300" lvl="0" marL="342900" marR="0" rtl="0" algn="l">
              <a:spcBef>
                <a:spcPts val="4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Output: precision, recall, F1-score, FPR, and detection latency metrics with automated alerts.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7"/>
          <p:cNvSpPr/>
          <p:nvPr/>
        </p:nvSpPr>
        <p:spPr>
          <a:xfrm>
            <a:off x="0" y="0"/>
            <a:ext cx="9144000" cy="837590"/>
          </a:xfrm>
          <a:prstGeom prst="rect">
            <a:avLst/>
          </a:prstGeom>
          <a:solidFill>
            <a:srgbClr val="FF3300"/>
          </a:solidFill>
          <a:ln cap="flat" cmpd="sng" w="12700">
            <a:solidFill>
              <a:srgbClr val="FF3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logo2.jpeg" id="82" name="Google Shape;82;p7"/>
          <p:cNvPicPr preferRelativeResize="0"/>
          <p:nvPr/>
        </p:nvPicPr>
        <p:blipFill rotWithShape="1">
          <a:blip r:embed="rId3">
            <a:alphaModFix/>
          </a:blip>
          <a:srcRect b="0" l="0" r="0" t="0"/>
          <a:stretch/>
        </p:blipFill>
        <p:spPr>
          <a:xfrm>
            <a:off x="6553505" y="228600"/>
            <a:ext cx="2057400" cy="634594"/>
          </a:xfrm>
          <a:prstGeom prst="rect">
            <a:avLst/>
          </a:prstGeom>
          <a:noFill/>
          <a:ln>
            <a:noFill/>
          </a:ln>
        </p:spPr>
      </p:pic>
      <p:sp>
        <p:nvSpPr>
          <p:cNvPr id="83" name="Google Shape;83;p7"/>
          <p:cNvSpPr/>
          <p:nvPr/>
        </p:nvSpPr>
        <p:spPr>
          <a:xfrm>
            <a:off x="0" y="6656832"/>
            <a:ext cx="9144000" cy="201168"/>
          </a:xfrm>
          <a:prstGeom prst="rect">
            <a:avLst/>
          </a:prstGeom>
          <a:solidFill>
            <a:srgbClr val="FF0000"/>
          </a:solidFill>
          <a:ln cap="flat" cmpd="sng" w="127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
          <p:cNvSpPr/>
          <p:nvPr/>
        </p:nvSpPr>
        <p:spPr>
          <a:xfrm>
            <a:off x="274320" y="92903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Times New Roman"/>
              <a:buNone/>
            </a:pPr>
            <a:r>
              <a:rPr b="1" i="0" lang="en-US" sz="3500" u="none" cap="none" strike="noStrike">
                <a:solidFill>
                  <a:srgbClr val="000000"/>
                </a:solidFill>
                <a:latin typeface="Times New Roman"/>
                <a:ea typeface="Times New Roman"/>
                <a:cs typeface="Times New Roman"/>
                <a:sym typeface="Times New Roman"/>
              </a:rPr>
              <a:t>Methodology</a:t>
            </a:r>
            <a:endParaRPr b="0" i="0" sz="3500" u="none" cap="none" strike="noStrike">
              <a:solidFill>
                <a:schemeClr val="dk1"/>
              </a:solidFill>
              <a:latin typeface="Calibri"/>
              <a:ea typeface="Calibri"/>
              <a:cs typeface="Calibri"/>
              <a:sym typeface="Calibri"/>
            </a:endParaRPr>
          </a:p>
        </p:txBody>
      </p:sp>
      <p:sp>
        <p:nvSpPr>
          <p:cNvPr id="85" name="Google Shape;85;p7"/>
          <p:cNvSpPr/>
          <p:nvPr/>
        </p:nvSpPr>
        <p:spPr>
          <a:xfrm>
            <a:off x="274320" y="1450238"/>
            <a:ext cx="8595360" cy="22860"/>
          </a:xfrm>
          <a:prstGeom prst="rect">
            <a:avLst/>
          </a:prstGeom>
          <a:solidFill>
            <a:srgbClr val="CCCCCC"/>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p:nvPr/>
        </p:nvSpPr>
        <p:spPr>
          <a:xfrm>
            <a:off x="8686800" y="6492240"/>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F81BD"/>
              </a:buClr>
              <a:buSzPts val="1200"/>
              <a:buFont typeface="Times New Roman"/>
              <a:buNone/>
            </a:pPr>
            <a:r>
              <a:rPr b="0" i="0" lang="en-US" sz="1200" u="none" cap="none" strike="noStrike">
                <a:solidFill>
                  <a:srgbClr val="4F81BD"/>
                </a:solidFill>
                <a:latin typeface="Times New Roman"/>
                <a:ea typeface="Times New Roman"/>
                <a:cs typeface="Times New Roman"/>
                <a:sym typeface="Times New Roman"/>
              </a:rPr>
              <a:t>5</a:t>
            </a:r>
            <a:endParaRPr b="0" i="0" sz="1200" u="none" cap="none" strike="noStrike">
              <a:solidFill>
                <a:schemeClr val="dk1"/>
              </a:solidFill>
              <a:latin typeface="Calibri"/>
              <a:ea typeface="Calibri"/>
              <a:cs typeface="Calibri"/>
              <a:sym typeface="Calibri"/>
            </a:endParaRPr>
          </a:p>
        </p:txBody>
      </p:sp>
      <p:sp>
        <p:nvSpPr>
          <p:cNvPr id="87" name="Google Shape;87;p7"/>
          <p:cNvSpPr/>
          <p:nvPr/>
        </p:nvSpPr>
        <p:spPr>
          <a:xfrm>
            <a:off x="365760" y="1828800"/>
            <a:ext cx="4206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497D"/>
              </a:buClr>
              <a:buSzPts val="1500"/>
              <a:buFont typeface="Times New Roman"/>
              <a:buNone/>
            </a:pPr>
            <a:r>
              <a:rPr b="1" i="0" lang="en-US" sz="1500" u="none" cap="none" strike="noStrike">
                <a:solidFill>
                  <a:srgbClr val="1F497D"/>
                </a:solidFill>
                <a:latin typeface="Times New Roman"/>
                <a:ea typeface="Times New Roman"/>
                <a:cs typeface="Times New Roman"/>
                <a:sym typeface="Times New Roman"/>
              </a:rPr>
              <a:t>A. Literature Survey</a:t>
            </a:r>
            <a:endParaRPr b="0" i="0" sz="1500" u="none" cap="none" strike="noStrike">
              <a:solidFill>
                <a:schemeClr val="dk1"/>
              </a:solidFill>
              <a:latin typeface="Calibri"/>
              <a:ea typeface="Calibri"/>
              <a:cs typeface="Calibri"/>
              <a:sym typeface="Calibri"/>
            </a:endParaRPr>
          </a:p>
        </p:txBody>
      </p:sp>
      <p:sp>
        <p:nvSpPr>
          <p:cNvPr id="88" name="Google Shape;88;p7"/>
          <p:cNvSpPr/>
          <p:nvPr/>
        </p:nvSpPr>
        <p:spPr>
          <a:xfrm>
            <a:off x="365760" y="2176272"/>
            <a:ext cx="42062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300"/>
              <a:buFont typeface="Times New Roman"/>
              <a:buNone/>
            </a:pPr>
            <a:r>
              <a:rPr b="0" i="0" lang="en-US" sz="1500" u="none" cap="none" strike="noStrike">
                <a:solidFill>
                  <a:srgbClr val="000000"/>
                </a:solidFill>
                <a:latin typeface="Times New Roman"/>
                <a:ea typeface="Times New Roman"/>
                <a:cs typeface="Times New Roman"/>
                <a:sym typeface="Times New Roman"/>
              </a:rPr>
              <a:t>Comprehensive review via IEEE Xplore, SpringerLink &amp; Google Scholar covering rule-based monitoring, statistical methods, and ML approaches for log anomaly detection.</a:t>
            </a:r>
            <a:endParaRPr b="0" i="0" sz="1500" u="none" cap="none" strike="noStrike">
              <a:solidFill>
                <a:schemeClr val="dk1"/>
              </a:solidFill>
              <a:latin typeface="Calibri"/>
              <a:ea typeface="Calibri"/>
              <a:cs typeface="Calibri"/>
              <a:sym typeface="Calibri"/>
            </a:endParaRPr>
          </a:p>
        </p:txBody>
      </p:sp>
      <p:sp>
        <p:nvSpPr>
          <p:cNvPr id="89" name="Google Shape;89;p7"/>
          <p:cNvSpPr/>
          <p:nvPr/>
        </p:nvSpPr>
        <p:spPr>
          <a:xfrm>
            <a:off x="365760" y="2999232"/>
            <a:ext cx="4206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497D"/>
              </a:buClr>
              <a:buSzPts val="1500"/>
              <a:buFont typeface="Times New Roman"/>
              <a:buNone/>
            </a:pPr>
            <a:r>
              <a:rPr b="1" i="0" lang="en-US" sz="1500" u="none" cap="none" strike="noStrike">
                <a:solidFill>
                  <a:srgbClr val="1F497D"/>
                </a:solidFill>
                <a:latin typeface="Times New Roman"/>
                <a:ea typeface="Times New Roman"/>
                <a:cs typeface="Times New Roman"/>
                <a:sym typeface="Times New Roman"/>
              </a:rPr>
              <a:t>B. Dataset Preparation</a:t>
            </a:r>
            <a:endParaRPr b="0" i="0" sz="1500" u="none" cap="none" strike="noStrike">
              <a:solidFill>
                <a:schemeClr val="dk1"/>
              </a:solidFill>
              <a:latin typeface="Calibri"/>
              <a:ea typeface="Calibri"/>
              <a:cs typeface="Calibri"/>
              <a:sym typeface="Calibri"/>
            </a:endParaRPr>
          </a:p>
        </p:txBody>
      </p:sp>
      <p:sp>
        <p:nvSpPr>
          <p:cNvPr id="90" name="Google Shape;90;p7"/>
          <p:cNvSpPr/>
          <p:nvPr/>
        </p:nvSpPr>
        <p:spPr>
          <a:xfrm>
            <a:off x="365760" y="3346704"/>
            <a:ext cx="4206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300"/>
              <a:buFont typeface="Times New Roman"/>
              <a:buNone/>
            </a:pPr>
            <a:r>
              <a:rPr b="0" i="0" lang="en-US" sz="1500" u="none" cap="none" strike="noStrike">
                <a:solidFill>
                  <a:srgbClr val="000000"/>
                </a:solidFill>
                <a:latin typeface="Times New Roman"/>
                <a:ea typeface="Times New Roman"/>
                <a:cs typeface="Times New Roman"/>
                <a:sym typeface="Times New Roman"/>
              </a:rPr>
              <a:t>Hybrid dataset: public system logs + synthetically generated logs. Anomalies injected to simulate crashes, abnormal resource usage, and unexpected error patterns.</a:t>
            </a:r>
            <a:endParaRPr b="0" i="0" sz="1500" u="none" cap="none" strike="noStrike">
              <a:solidFill>
                <a:schemeClr val="dk1"/>
              </a:solidFill>
              <a:latin typeface="Calibri"/>
              <a:ea typeface="Calibri"/>
              <a:cs typeface="Calibri"/>
              <a:sym typeface="Calibri"/>
            </a:endParaRPr>
          </a:p>
        </p:txBody>
      </p:sp>
      <p:sp>
        <p:nvSpPr>
          <p:cNvPr id="91" name="Google Shape;91;p7"/>
          <p:cNvSpPr/>
          <p:nvPr/>
        </p:nvSpPr>
        <p:spPr>
          <a:xfrm>
            <a:off x="365760" y="4224528"/>
            <a:ext cx="4206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497D"/>
              </a:buClr>
              <a:buSzPts val="1500"/>
              <a:buFont typeface="Times New Roman"/>
              <a:buNone/>
            </a:pPr>
            <a:r>
              <a:rPr b="1" i="0" lang="en-US" sz="1500" u="none" cap="none" strike="noStrike">
                <a:solidFill>
                  <a:srgbClr val="1F497D"/>
                </a:solidFill>
                <a:latin typeface="Times New Roman"/>
                <a:ea typeface="Times New Roman"/>
                <a:cs typeface="Times New Roman"/>
                <a:sym typeface="Times New Roman"/>
              </a:rPr>
              <a:t>C. Rule-Based Detection</a:t>
            </a:r>
            <a:endParaRPr b="0" i="0" sz="1500" u="none" cap="none" strike="noStrike">
              <a:solidFill>
                <a:schemeClr val="dk1"/>
              </a:solidFill>
              <a:latin typeface="Calibri"/>
              <a:ea typeface="Calibri"/>
              <a:cs typeface="Calibri"/>
              <a:sym typeface="Calibri"/>
            </a:endParaRPr>
          </a:p>
        </p:txBody>
      </p:sp>
      <p:sp>
        <p:nvSpPr>
          <p:cNvPr id="92" name="Google Shape;92;p7"/>
          <p:cNvSpPr/>
          <p:nvPr/>
        </p:nvSpPr>
        <p:spPr>
          <a:xfrm>
            <a:off x="365760" y="4572000"/>
            <a:ext cx="4206240" cy="822960"/>
          </a:xfrm>
          <a:prstGeom prst="rect">
            <a:avLst/>
          </a:prstGeom>
          <a:noFill/>
          <a:ln>
            <a:noFill/>
          </a:ln>
        </p:spPr>
        <p:txBody>
          <a:bodyPr anchorCtr="0" anchor="ctr" bIns="45700" lIns="91425" spcFirstLastPara="1" rIns="91425" wrap="square" tIns="45700">
            <a:noAutofit/>
          </a:bodyPr>
          <a:lstStyle/>
          <a:p>
            <a:pPr indent="-355600" lvl="0" marL="342900" marR="0" rtl="0" algn="l">
              <a:spcBef>
                <a:spcPts val="0"/>
              </a:spcBef>
              <a:spcAft>
                <a:spcPts val="0"/>
              </a:spcAft>
              <a:buClr>
                <a:srgbClr val="000000"/>
              </a:buClr>
              <a:buSzPts val="1500"/>
              <a:buFont typeface="Times New Roman"/>
              <a:buChar char="•"/>
            </a:pPr>
            <a:r>
              <a:rPr b="0" i="0" lang="en-US" sz="1500" u="none" cap="none" strike="noStrike">
                <a:solidFill>
                  <a:srgbClr val="000000"/>
                </a:solidFill>
                <a:latin typeface="Times New Roman"/>
                <a:ea typeface="Times New Roman"/>
                <a:cs typeface="Times New Roman"/>
                <a:sym typeface="Times New Roman"/>
              </a:rPr>
              <a:t>High error frequency in short time windows</a:t>
            </a:r>
            <a:endParaRPr b="0" i="0" sz="150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000000"/>
              </a:buClr>
              <a:buSzPts val="1500"/>
              <a:buFont typeface="Times New Roman"/>
              <a:buChar char="•"/>
            </a:pPr>
            <a:r>
              <a:rPr b="0" i="0" lang="en-US" sz="1500" u="none" cap="none" strike="noStrike">
                <a:solidFill>
                  <a:srgbClr val="000000"/>
                </a:solidFill>
                <a:latin typeface="Times New Roman"/>
                <a:ea typeface="Times New Roman"/>
                <a:cs typeface="Times New Roman"/>
                <a:sym typeface="Times New Roman"/>
              </a:rPr>
              <a:t>Sudden spikes in log volume</a:t>
            </a:r>
            <a:endParaRPr b="0" i="0" sz="150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000000"/>
              </a:buClr>
              <a:buSzPts val="1500"/>
              <a:buFont typeface="Times New Roman"/>
              <a:buChar char="•"/>
            </a:pPr>
            <a:r>
              <a:rPr b="0" i="0" lang="en-US" sz="1500" u="none" cap="none" strike="noStrike">
                <a:solidFill>
                  <a:srgbClr val="000000"/>
                </a:solidFill>
                <a:latin typeface="Times New Roman"/>
                <a:ea typeface="Times New Roman"/>
                <a:cs typeface="Times New Roman"/>
                <a:sym typeface="Times New Roman"/>
              </a:rPr>
              <a:t>Occurrence of critical error keywords</a:t>
            </a:r>
            <a:endParaRPr b="0" i="0" sz="1500" u="none" cap="none" strike="noStrike">
              <a:solidFill>
                <a:schemeClr val="dk1"/>
              </a:solidFill>
              <a:latin typeface="Calibri"/>
              <a:ea typeface="Calibri"/>
              <a:cs typeface="Calibri"/>
              <a:sym typeface="Calibri"/>
            </a:endParaRPr>
          </a:p>
        </p:txBody>
      </p:sp>
      <p:cxnSp>
        <p:nvCxnSpPr>
          <p:cNvPr id="93" name="Google Shape;93;p7"/>
          <p:cNvCxnSpPr/>
          <p:nvPr/>
        </p:nvCxnSpPr>
        <p:spPr>
          <a:xfrm>
            <a:off x="4663440" y="1783080"/>
            <a:ext cx="0" cy="3840480"/>
          </a:xfrm>
          <a:prstGeom prst="straightConnector1">
            <a:avLst/>
          </a:prstGeom>
          <a:noFill/>
          <a:ln cap="flat" cmpd="sng" w="12700">
            <a:solidFill>
              <a:srgbClr val="DDDDDD"/>
            </a:solidFill>
            <a:prstDash val="solid"/>
            <a:round/>
            <a:headEnd len="sm" w="sm" type="none"/>
            <a:tailEnd len="sm" w="sm" type="none"/>
          </a:ln>
        </p:spPr>
      </p:cxnSp>
      <p:sp>
        <p:nvSpPr>
          <p:cNvPr id="94" name="Google Shape;94;p7"/>
          <p:cNvSpPr/>
          <p:nvPr/>
        </p:nvSpPr>
        <p:spPr>
          <a:xfrm>
            <a:off x="4754880" y="1828800"/>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497D"/>
              </a:buClr>
              <a:buSzPts val="1500"/>
              <a:buFont typeface="Times New Roman"/>
              <a:buNone/>
            </a:pPr>
            <a:r>
              <a:rPr b="1" i="0" lang="en-US" sz="1500" u="none" cap="none" strike="noStrike">
                <a:solidFill>
                  <a:srgbClr val="1F497D"/>
                </a:solidFill>
                <a:latin typeface="Times New Roman"/>
                <a:ea typeface="Times New Roman"/>
                <a:cs typeface="Times New Roman"/>
                <a:sym typeface="Times New Roman"/>
              </a:rPr>
              <a:t>D. Machine Learning Models</a:t>
            </a:r>
            <a:endParaRPr b="0" i="0" sz="1500" u="none" cap="none" strike="noStrike">
              <a:solidFill>
                <a:schemeClr val="dk1"/>
              </a:solidFill>
              <a:latin typeface="Calibri"/>
              <a:ea typeface="Calibri"/>
              <a:cs typeface="Calibri"/>
              <a:sym typeface="Calibri"/>
            </a:endParaRPr>
          </a:p>
        </p:txBody>
      </p:sp>
      <p:sp>
        <p:nvSpPr>
          <p:cNvPr id="95" name="Google Shape;95;p7"/>
          <p:cNvSpPr/>
          <p:nvPr/>
        </p:nvSpPr>
        <p:spPr>
          <a:xfrm>
            <a:off x="4754880" y="2176272"/>
            <a:ext cx="40233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300"/>
              <a:buFont typeface="Times New Roman"/>
              <a:buNone/>
            </a:pPr>
            <a:r>
              <a:rPr b="1" i="0" lang="en-US" sz="1500" u="none" cap="none" strike="noStrike">
                <a:solidFill>
                  <a:srgbClr val="000000"/>
                </a:solidFill>
                <a:latin typeface="Times New Roman"/>
                <a:ea typeface="Times New Roman"/>
                <a:cs typeface="Times New Roman"/>
                <a:sym typeface="Times New Roman"/>
              </a:rPr>
              <a:t>Logistic Regression (Supervised):</a:t>
            </a:r>
            <a:endParaRPr b="0" i="0" sz="1500" u="none" cap="none" strike="noStrike">
              <a:solidFill>
                <a:schemeClr val="dk1"/>
              </a:solidFill>
              <a:latin typeface="Calibri"/>
              <a:ea typeface="Calibri"/>
              <a:cs typeface="Calibri"/>
              <a:sym typeface="Calibri"/>
            </a:endParaRPr>
          </a:p>
        </p:txBody>
      </p:sp>
      <p:sp>
        <p:nvSpPr>
          <p:cNvPr id="96" name="Google Shape;96;p7"/>
          <p:cNvSpPr/>
          <p:nvPr/>
        </p:nvSpPr>
        <p:spPr>
          <a:xfrm>
            <a:off x="4754880" y="2468880"/>
            <a:ext cx="40233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300"/>
              <a:buFont typeface="Times New Roman"/>
              <a:buNone/>
            </a:pPr>
            <a:r>
              <a:rPr b="0" i="0" lang="en-US" sz="1500" u="none" cap="none" strike="noStrike">
                <a:solidFill>
                  <a:srgbClr val="000000"/>
                </a:solidFill>
                <a:latin typeface="Times New Roman"/>
                <a:ea typeface="Times New Roman"/>
                <a:cs typeface="Times New Roman"/>
                <a:sym typeface="Times New Roman"/>
              </a:rPr>
              <a:t>Predicts normal vs. anomalous log entries from estimated probabilities using extracted features.</a:t>
            </a:r>
            <a:endParaRPr b="0" i="0" sz="1500" u="none" cap="none" strike="noStrike">
              <a:solidFill>
                <a:schemeClr val="dk1"/>
              </a:solidFill>
              <a:latin typeface="Calibri"/>
              <a:ea typeface="Calibri"/>
              <a:cs typeface="Calibri"/>
              <a:sym typeface="Calibri"/>
            </a:endParaRPr>
          </a:p>
        </p:txBody>
      </p:sp>
      <p:sp>
        <p:nvSpPr>
          <p:cNvPr id="97" name="Google Shape;97;p7"/>
          <p:cNvSpPr/>
          <p:nvPr/>
        </p:nvSpPr>
        <p:spPr>
          <a:xfrm>
            <a:off x="4754880" y="3017520"/>
            <a:ext cx="40233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300"/>
              <a:buFont typeface="Times New Roman"/>
              <a:buNone/>
            </a:pPr>
            <a:r>
              <a:rPr b="1" i="0" lang="en-US" sz="1500" u="none" cap="none" strike="noStrike">
                <a:solidFill>
                  <a:srgbClr val="000000"/>
                </a:solidFill>
                <a:latin typeface="Times New Roman"/>
                <a:ea typeface="Times New Roman"/>
                <a:cs typeface="Times New Roman"/>
                <a:sym typeface="Times New Roman"/>
              </a:rPr>
              <a:t>Isolation Forest (Unsupervised):</a:t>
            </a:r>
            <a:endParaRPr b="0" i="0" sz="1500" u="none" cap="none" strike="noStrike">
              <a:solidFill>
                <a:schemeClr val="dk1"/>
              </a:solidFill>
              <a:latin typeface="Calibri"/>
              <a:ea typeface="Calibri"/>
              <a:cs typeface="Calibri"/>
              <a:sym typeface="Calibri"/>
            </a:endParaRPr>
          </a:p>
        </p:txBody>
      </p:sp>
      <p:sp>
        <p:nvSpPr>
          <p:cNvPr id="98" name="Google Shape;98;p7"/>
          <p:cNvSpPr/>
          <p:nvPr/>
        </p:nvSpPr>
        <p:spPr>
          <a:xfrm>
            <a:off x="4754880" y="3310128"/>
            <a:ext cx="402336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300"/>
              <a:buFont typeface="Times New Roman"/>
              <a:buNone/>
            </a:pPr>
            <a:r>
              <a:rPr b="0" i="0" lang="en-US" sz="1500" u="none" cap="none" strike="noStrike">
                <a:solidFill>
                  <a:srgbClr val="000000"/>
                </a:solidFill>
                <a:latin typeface="Times New Roman"/>
                <a:ea typeface="Times New Roman"/>
                <a:cs typeface="Times New Roman"/>
                <a:sym typeface="Times New Roman"/>
              </a:rPr>
              <a:t>Isolates rare anomalies using random decision trees — fewer splits = anomaly. Minimal parameter tuning required.</a:t>
            </a:r>
            <a:endParaRPr b="0" i="0" sz="1500" u="none" cap="none" strike="noStrike">
              <a:solidFill>
                <a:schemeClr val="dk1"/>
              </a:solidFill>
              <a:latin typeface="Calibri"/>
              <a:ea typeface="Calibri"/>
              <a:cs typeface="Calibri"/>
              <a:sym typeface="Calibri"/>
            </a:endParaRPr>
          </a:p>
        </p:txBody>
      </p:sp>
      <p:sp>
        <p:nvSpPr>
          <p:cNvPr id="99" name="Google Shape;99;p7"/>
          <p:cNvSpPr/>
          <p:nvPr/>
        </p:nvSpPr>
        <p:spPr>
          <a:xfrm>
            <a:off x="4754880" y="3977640"/>
            <a:ext cx="4023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F497D"/>
              </a:buClr>
              <a:buSzPts val="1500"/>
              <a:buFont typeface="Times New Roman"/>
              <a:buNone/>
            </a:pPr>
            <a:r>
              <a:rPr b="1" i="0" lang="en-US" sz="1500" u="none" cap="none" strike="noStrike">
                <a:solidFill>
                  <a:srgbClr val="1F497D"/>
                </a:solidFill>
                <a:latin typeface="Times New Roman"/>
                <a:ea typeface="Times New Roman"/>
                <a:cs typeface="Times New Roman"/>
                <a:sym typeface="Times New Roman"/>
              </a:rPr>
              <a:t>E. Performance Evaluation Metrics</a:t>
            </a:r>
            <a:endParaRPr b="0" i="0" sz="1500" u="none" cap="none" strike="noStrike">
              <a:solidFill>
                <a:schemeClr val="dk1"/>
              </a:solidFill>
              <a:latin typeface="Calibri"/>
              <a:ea typeface="Calibri"/>
              <a:cs typeface="Calibri"/>
              <a:sym typeface="Calibri"/>
            </a:endParaRPr>
          </a:p>
        </p:txBody>
      </p:sp>
      <p:sp>
        <p:nvSpPr>
          <p:cNvPr id="100" name="Google Shape;100;p7"/>
          <p:cNvSpPr/>
          <p:nvPr/>
        </p:nvSpPr>
        <p:spPr>
          <a:xfrm>
            <a:off x="4754880" y="4325112"/>
            <a:ext cx="4023360" cy="914400"/>
          </a:xfrm>
          <a:prstGeom prst="rect">
            <a:avLst/>
          </a:prstGeom>
          <a:noFill/>
          <a:ln>
            <a:noFill/>
          </a:ln>
        </p:spPr>
        <p:txBody>
          <a:bodyPr anchorCtr="0" anchor="ctr" bIns="45700" lIns="91425" spcFirstLastPara="1" rIns="91425" wrap="square" tIns="45700">
            <a:noAutofit/>
          </a:bodyPr>
          <a:lstStyle/>
          <a:p>
            <a:pPr indent="-355600" lvl="0" marL="342900" marR="0" rtl="0" algn="l">
              <a:spcBef>
                <a:spcPts val="0"/>
              </a:spcBef>
              <a:spcAft>
                <a:spcPts val="0"/>
              </a:spcAft>
              <a:buClr>
                <a:srgbClr val="000000"/>
              </a:buClr>
              <a:buSzPts val="1500"/>
              <a:buFont typeface="Times New Roman"/>
              <a:buChar char="•"/>
            </a:pPr>
            <a:r>
              <a:rPr b="0" i="0" lang="en-US" sz="1500" u="none" cap="none" strike="noStrike">
                <a:solidFill>
                  <a:srgbClr val="000000"/>
                </a:solidFill>
                <a:latin typeface="Times New Roman"/>
                <a:ea typeface="Times New Roman"/>
                <a:cs typeface="Times New Roman"/>
                <a:sym typeface="Times New Roman"/>
              </a:rPr>
              <a:t>Precision, Recall, F1-Score</a:t>
            </a:r>
            <a:endParaRPr b="0" i="0" sz="150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000000"/>
              </a:buClr>
              <a:buSzPts val="1500"/>
              <a:buFont typeface="Times New Roman"/>
              <a:buChar char="•"/>
            </a:pPr>
            <a:r>
              <a:rPr b="0" i="0" lang="en-US" sz="1500" u="none" cap="none" strike="noStrike">
                <a:solidFill>
                  <a:srgbClr val="000000"/>
                </a:solidFill>
                <a:latin typeface="Times New Roman"/>
                <a:ea typeface="Times New Roman"/>
                <a:cs typeface="Times New Roman"/>
                <a:sym typeface="Times New Roman"/>
              </a:rPr>
              <a:t>False Positive Rate (FPR)</a:t>
            </a:r>
            <a:endParaRPr b="0" i="0" sz="150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000000"/>
              </a:buClr>
              <a:buSzPts val="1500"/>
              <a:buFont typeface="Times New Roman"/>
              <a:buChar char="•"/>
            </a:pPr>
            <a:r>
              <a:rPr b="0" i="0" lang="en-US" sz="1500" u="none" cap="none" strike="noStrike">
                <a:solidFill>
                  <a:srgbClr val="000000"/>
                </a:solidFill>
                <a:latin typeface="Times New Roman"/>
                <a:ea typeface="Times New Roman"/>
                <a:cs typeface="Times New Roman"/>
                <a:sym typeface="Times New Roman"/>
              </a:rPr>
              <a:t>Detection Latency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8"/>
          <p:cNvSpPr/>
          <p:nvPr/>
        </p:nvSpPr>
        <p:spPr>
          <a:xfrm>
            <a:off x="0" y="0"/>
            <a:ext cx="9144000" cy="837590"/>
          </a:xfrm>
          <a:prstGeom prst="rect">
            <a:avLst/>
          </a:prstGeom>
          <a:solidFill>
            <a:srgbClr val="FF3300"/>
          </a:solidFill>
          <a:ln cap="flat" cmpd="sng" w="12700">
            <a:solidFill>
              <a:srgbClr val="FF3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logo2.jpeg" id="107" name="Google Shape;107;p8"/>
          <p:cNvPicPr preferRelativeResize="0"/>
          <p:nvPr/>
        </p:nvPicPr>
        <p:blipFill rotWithShape="1">
          <a:blip r:embed="rId3">
            <a:alphaModFix/>
          </a:blip>
          <a:srcRect b="0" l="0" r="0" t="0"/>
          <a:stretch/>
        </p:blipFill>
        <p:spPr>
          <a:xfrm>
            <a:off x="6553505" y="228600"/>
            <a:ext cx="2057400" cy="634594"/>
          </a:xfrm>
          <a:prstGeom prst="rect">
            <a:avLst/>
          </a:prstGeom>
          <a:noFill/>
          <a:ln>
            <a:noFill/>
          </a:ln>
        </p:spPr>
      </p:pic>
      <p:sp>
        <p:nvSpPr>
          <p:cNvPr id="108" name="Google Shape;108;p8"/>
          <p:cNvSpPr/>
          <p:nvPr/>
        </p:nvSpPr>
        <p:spPr>
          <a:xfrm>
            <a:off x="0" y="6656832"/>
            <a:ext cx="9144000" cy="201168"/>
          </a:xfrm>
          <a:prstGeom prst="rect">
            <a:avLst/>
          </a:prstGeom>
          <a:solidFill>
            <a:srgbClr val="FF0000"/>
          </a:solidFill>
          <a:ln cap="flat" cmpd="sng" w="127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a:off x="274320" y="92903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Times New Roman"/>
              <a:buNone/>
            </a:pPr>
            <a:r>
              <a:rPr b="1" i="0" lang="en-US" sz="3500" u="none" cap="none" strike="noStrike">
                <a:solidFill>
                  <a:srgbClr val="000000"/>
                </a:solidFill>
                <a:latin typeface="Times New Roman"/>
                <a:ea typeface="Times New Roman"/>
                <a:cs typeface="Times New Roman"/>
                <a:sym typeface="Times New Roman"/>
              </a:rPr>
              <a:t>Results and Discussion</a:t>
            </a:r>
            <a:endParaRPr b="0" i="0" sz="4300" u="none" cap="none" strike="noStrike">
              <a:solidFill>
                <a:schemeClr val="dk1"/>
              </a:solidFill>
              <a:latin typeface="Calibri"/>
              <a:ea typeface="Calibri"/>
              <a:cs typeface="Calibri"/>
              <a:sym typeface="Calibri"/>
            </a:endParaRPr>
          </a:p>
        </p:txBody>
      </p:sp>
      <p:sp>
        <p:nvSpPr>
          <p:cNvPr id="110" name="Google Shape;110;p8"/>
          <p:cNvSpPr/>
          <p:nvPr/>
        </p:nvSpPr>
        <p:spPr>
          <a:xfrm>
            <a:off x="274320" y="1450238"/>
            <a:ext cx="8595360" cy="22860"/>
          </a:xfrm>
          <a:prstGeom prst="rect">
            <a:avLst/>
          </a:prstGeom>
          <a:solidFill>
            <a:srgbClr val="CCCCCC"/>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8"/>
          <p:cNvSpPr/>
          <p:nvPr/>
        </p:nvSpPr>
        <p:spPr>
          <a:xfrm>
            <a:off x="8686800" y="6492240"/>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F81BD"/>
              </a:buClr>
              <a:buSzPts val="1200"/>
              <a:buFont typeface="Times New Roman"/>
              <a:buNone/>
            </a:pPr>
            <a:r>
              <a:rPr b="0" i="0" lang="en-US" sz="1200" u="none" cap="none" strike="noStrike">
                <a:solidFill>
                  <a:srgbClr val="4F81BD"/>
                </a:solidFill>
                <a:latin typeface="Times New Roman"/>
                <a:ea typeface="Times New Roman"/>
                <a:cs typeface="Times New Roman"/>
                <a:sym typeface="Times New Roman"/>
              </a:rPr>
              <a:t>6</a:t>
            </a:r>
            <a:endParaRPr b="0" i="0" sz="1200" u="none" cap="none" strike="noStrike">
              <a:solidFill>
                <a:schemeClr val="dk1"/>
              </a:solidFill>
              <a:latin typeface="Calibri"/>
              <a:ea typeface="Calibri"/>
              <a:cs typeface="Calibri"/>
              <a:sym typeface="Calibri"/>
            </a:endParaRPr>
          </a:p>
        </p:txBody>
      </p:sp>
      <p:graphicFrame>
        <p:nvGraphicFramePr>
          <p:cNvPr id="112" name="Google Shape;112;p8"/>
          <p:cNvGraphicFramePr/>
          <p:nvPr/>
        </p:nvGraphicFramePr>
        <p:xfrm>
          <a:off x="274320" y="1569110"/>
          <a:ext cx="3000000" cy="3000000"/>
        </p:xfrm>
        <a:graphic>
          <a:graphicData uri="http://schemas.openxmlformats.org/drawingml/2006/table">
            <a:tbl>
              <a:tblPr>
                <a:noFill/>
                <a:tableStyleId>{C14D77F0-955F-4A62-8243-05732228FB54}</a:tableStyleId>
              </a:tblPr>
              <a:tblGrid>
                <a:gridCol w="2103125"/>
                <a:gridCol w="2167125"/>
                <a:gridCol w="2167125"/>
                <a:gridCol w="2157975"/>
              </a:tblGrid>
              <a:tr h="487675">
                <a:tc>
                  <a:txBody>
                    <a:bodyPr/>
                    <a:lstStyle/>
                    <a:p>
                      <a:pPr indent="0" lvl="0" marL="0" marR="0" rtl="0" algn="ctr">
                        <a:spcBef>
                          <a:spcPts val="0"/>
                        </a:spcBef>
                        <a:spcAft>
                          <a:spcPts val="0"/>
                        </a:spcAft>
                        <a:buClr>
                          <a:srgbClr val="FFFFFF"/>
                        </a:buClr>
                        <a:buSzPts val="1300"/>
                        <a:buFont typeface="Times New Roman"/>
                        <a:buNone/>
                      </a:pPr>
                      <a:r>
                        <a:rPr b="1" lang="en-US" sz="1300" u="none" cap="none" strike="noStrike">
                          <a:solidFill>
                            <a:srgbClr val="FFFFFF"/>
                          </a:solidFill>
                          <a:latin typeface="Times New Roman"/>
                          <a:ea typeface="Times New Roman"/>
                          <a:cs typeface="Times New Roman"/>
                          <a:sym typeface="Times New Roman"/>
                        </a:rPr>
                        <a:t>Metric</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spcBef>
                          <a:spcPts val="0"/>
                        </a:spcBef>
                        <a:spcAft>
                          <a:spcPts val="0"/>
                        </a:spcAft>
                        <a:buClr>
                          <a:srgbClr val="FFFFFF"/>
                        </a:buClr>
                        <a:buSzPts val="1300"/>
                        <a:buFont typeface="Times New Roman"/>
                        <a:buNone/>
                      </a:pPr>
                      <a:r>
                        <a:rPr b="1" lang="en-US" sz="1300" u="none" cap="none" strike="noStrike">
                          <a:solidFill>
                            <a:srgbClr val="FFFFFF"/>
                          </a:solidFill>
                          <a:latin typeface="Times New Roman"/>
                          <a:ea typeface="Times New Roman"/>
                          <a:cs typeface="Times New Roman"/>
                          <a:sym typeface="Times New Roman"/>
                        </a:rPr>
                        <a:t>Rule-Based</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spcBef>
                          <a:spcPts val="0"/>
                        </a:spcBef>
                        <a:spcAft>
                          <a:spcPts val="0"/>
                        </a:spcAft>
                        <a:buClr>
                          <a:srgbClr val="FFFFFF"/>
                        </a:buClr>
                        <a:buSzPts val="1300"/>
                        <a:buFont typeface="Times New Roman"/>
                        <a:buNone/>
                      </a:pPr>
                      <a:r>
                        <a:rPr b="1" lang="en-US" sz="1300" u="none" cap="none" strike="noStrike">
                          <a:solidFill>
                            <a:srgbClr val="FFFFFF"/>
                          </a:solidFill>
                          <a:latin typeface="Times New Roman"/>
                          <a:ea typeface="Times New Roman"/>
                          <a:cs typeface="Times New Roman"/>
                          <a:sym typeface="Times New Roman"/>
                        </a:rPr>
                        <a:t>Logistic Regression</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c>
                  <a:txBody>
                    <a:bodyPr/>
                    <a:lstStyle/>
                    <a:p>
                      <a:pPr indent="0" lvl="0" marL="0" marR="0" rtl="0" algn="ctr">
                        <a:spcBef>
                          <a:spcPts val="0"/>
                        </a:spcBef>
                        <a:spcAft>
                          <a:spcPts val="0"/>
                        </a:spcAft>
                        <a:buClr>
                          <a:srgbClr val="FFFFFF"/>
                        </a:buClr>
                        <a:buSzPts val="1300"/>
                        <a:buFont typeface="Times New Roman"/>
                        <a:buNone/>
                      </a:pPr>
                      <a:r>
                        <a:rPr b="1" lang="en-US" sz="1300" u="none" cap="none" strike="noStrike">
                          <a:solidFill>
                            <a:srgbClr val="FFFFFF"/>
                          </a:solidFill>
                          <a:latin typeface="Times New Roman"/>
                          <a:ea typeface="Times New Roman"/>
                          <a:cs typeface="Times New Roman"/>
                          <a:sym typeface="Times New Roman"/>
                        </a:rPr>
                        <a:t>Isolation Forest</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497D"/>
                    </a:solidFill>
                  </a:tcPr>
                </a:tc>
              </a:tr>
              <a:tr h="487675">
                <a:tc>
                  <a:txBody>
                    <a:bodyPr/>
                    <a:lstStyle/>
                    <a:p>
                      <a:pPr indent="0" lvl="0" marL="0" marR="0" rtl="0" algn="ctr">
                        <a:spcBef>
                          <a:spcPts val="0"/>
                        </a:spcBef>
                        <a:spcAft>
                          <a:spcPts val="0"/>
                        </a:spcAft>
                        <a:buClr>
                          <a:srgbClr val="000000"/>
                        </a:buClr>
                        <a:buSzPts val="1300"/>
                        <a:buFont typeface="Times New Roman"/>
                        <a:buNone/>
                      </a:pPr>
                      <a:r>
                        <a:rPr lang="en-US" sz="1300" u="none" cap="none" strike="noStrike">
                          <a:solidFill>
                            <a:srgbClr val="000000"/>
                          </a:solidFill>
                          <a:latin typeface="Times New Roman"/>
                          <a:ea typeface="Times New Roman"/>
                          <a:cs typeface="Times New Roman"/>
                          <a:sym typeface="Times New Roman"/>
                        </a:rPr>
                        <a:t>Adaptability</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CC0000"/>
                        </a:buClr>
                        <a:buSzPts val="1300"/>
                        <a:buFont typeface="Times New Roman"/>
                        <a:buNone/>
                      </a:pPr>
                      <a:r>
                        <a:rPr lang="en-US" sz="1300" u="none" cap="none" strike="noStrike">
                          <a:solidFill>
                            <a:srgbClr val="CC0000"/>
                          </a:solidFill>
                          <a:latin typeface="Times New Roman"/>
                          <a:ea typeface="Times New Roman"/>
                          <a:cs typeface="Times New Roman"/>
                          <a:sym typeface="Times New Roman"/>
                        </a:rPr>
                        <a:t>Low (static rules)</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028090"/>
                        </a:buClr>
                        <a:buSzPts val="1300"/>
                        <a:buFont typeface="Times New Roman"/>
                        <a:buNone/>
                      </a:pPr>
                      <a:r>
                        <a:rPr lang="en-US" sz="1300" u="none" cap="none" strike="noStrike">
                          <a:solidFill>
                            <a:srgbClr val="028090"/>
                          </a:solidFill>
                          <a:latin typeface="Times New Roman"/>
                          <a:ea typeface="Times New Roman"/>
                          <a:cs typeface="Times New Roman"/>
                          <a:sym typeface="Times New Roman"/>
                        </a:rPr>
                        <a:t>Moderate</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007700"/>
                        </a:buClr>
                        <a:buSzPts val="1300"/>
                        <a:buFont typeface="Times New Roman"/>
                        <a:buNone/>
                      </a:pPr>
                      <a:r>
                        <a:rPr b="1" lang="en-US" sz="1300" u="none" cap="none" strike="noStrike">
                          <a:solidFill>
                            <a:srgbClr val="007700"/>
                          </a:solidFill>
                          <a:latin typeface="Times New Roman"/>
                          <a:ea typeface="Times New Roman"/>
                          <a:cs typeface="Times New Roman"/>
                          <a:sym typeface="Times New Roman"/>
                        </a:rPr>
                        <a:t>High</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87675">
                <a:tc>
                  <a:txBody>
                    <a:bodyPr/>
                    <a:lstStyle/>
                    <a:p>
                      <a:pPr indent="0" lvl="0" marL="0" marR="0" rtl="0" algn="ctr">
                        <a:spcBef>
                          <a:spcPts val="0"/>
                        </a:spcBef>
                        <a:spcAft>
                          <a:spcPts val="0"/>
                        </a:spcAft>
                        <a:buClr>
                          <a:srgbClr val="000000"/>
                        </a:buClr>
                        <a:buSzPts val="1300"/>
                        <a:buFont typeface="Times New Roman"/>
                        <a:buNone/>
                      </a:pPr>
                      <a:r>
                        <a:rPr lang="en-US" sz="1300" u="none" cap="none" strike="noStrike">
                          <a:solidFill>
                            <a:srgbClr val="000000"/>
                          </a:solidFill>
                          <a:latin typeface="Times New Roman"/>
                          <a:ea typeface="Times New Roman"/>
                          <a:cs typeface="Times New Roman"/>
                          <a:sym typeface="Times New Roman"/>
                        </a:rPr>
                        <a:t>False Positive Rate</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CC0000"/>
                        </a:buClr>
                        <a:buSzPts val="1300"/>
                        <a:buFont typeface="Times New Roman"/>
                        <a:buNone/>
                      </a:pPr>
                      <a:r>
                        <a:rPr lang="en-US" sz="1300" u="none" cap="none" strike="noStrike">
                          <a:solidFill>
                            <a:srgbClr val="CC0000"/>
                          </a:solidFill>
                          <a:latin typeface="Times New Roman"/>
                          <a:ea typeface="Times New Roman"/>
                          <a:cs typeface="Times New Roman"/>
                          <a:sym typeface="Times New Roman"/>
                        </a:rPr>
                        <a:t>High</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028090"/>
                        </a:buClr>
                        <a:buSzPts val="1300"/>
                        <a:buFont typeface="Times New Roman"/>
                        <a:buNone/>
                      </a:pPr>
                      <a:r>
                        <a:rPr lang="en-US" sz="1300" u="none" cap="none" strike="noStrike">
                          <a:solidFill>
                            <a:srgbClr val="028090"/>
                          </a:solidFill>
                          <a:latin typeface="Times New Roman"/>
                          <a:ea typeface="Times New Roman"/>
                          <a:cs typeface="Times New Roman"/>
                          <a:sym typeface="Times New Roman"/>
                        </a:rPr>
                        <a:t>Moderate</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007700"/>
                        </a:buClr>
                        <a:buSzPts val="1300"/>
                        <a:buFont typeface="Times New Roman"/>
                        <a:buNone/>
                      </a:pPr>
                      <a:r>
                        <a:rPr b="1" lang="en-US" sz="1300" u="none" cap="none" strike="noStrike">
                          <a:solidFill>
                            <a:srgbClr val="007700"/>
                          </a:solidFill>
                          <a:latin typeface="Times New Roman"/>
                          <a:ea typeface="Times New Roman"/>
                          <a:cs typeface="Times New Roman"/>
                          <a:sym typeface="Times New Roman"/>
                        </a:rPr>
                        <a:t>Low</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87675">
                <a:tc>
                  <a:txBody>
                    <a:bodyPr/>
                    <a:lstStyle/>
                    <a:p>
                      <a:pPr indent="0" lvl="0" marL="0" marR="0" rtl="0" algn="ctr">
                        <a:spcBef>
                          <a:spcPts val="0"/>
                        </a:spcBef>
                        <a:spcAft>
                          <a:spcPts val="0"/>
                        </a:spcAft>
                        <a:buClr>
                          <a:srgbClr val="000000"/>
                        </a:buClr>
                        <a:buSzPts val="1300"/>
                        <a:buFont typeface="Times New Roman"/>
                        <a:buNone/>
                      </a:pPr>
                      <a:r>
                        <a:rPr lang="en-US" sz="1300" u="none" cap="none" strike="noStrike">
                          <a:solidFill>
                            <a:srgbClr val="000000"/>
                          </a:solidFill>
                          <a:latin typeface="Times New Roman"/>
                          <a:ea typeface="Times New Roman"/>
                          <a:cs typeface="Times New Roman"/>
                          <a:sym typeface="Times New Roman"/>
                        </a:rPr>
                        <a:t>Detection Accuracy</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CC0000"/>
                        </a:buClr>
                        <a:buSzPts val="1300"/>
                        <a:buFont typeface="Times New Roman"/>
                        <a:buNone/>
                      </a:pPr>
                      <a:r>
                        <a:rPr lang="en-US" sz="1300" u="none" cap="none" strike="noStrike">
                          <a:solidFill>
                            <a:srgbClr val="CC0000"/>
                          </a:solidFill>
                          <a:latin typeface="Times New Roman"/>
                          <a:ea typeface="Times New Roman"/>
                          <a:cs typeface="Times New Roman"/>
                          <a:sym typeface="Times New Roman"/>
                        </a:rPr>
                        <a:t>Limited</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028090"/>
                        </a:buClr>
                        <a:buSzPts val="1300"/>
                        <a:buFont typeface="Times New Roman"/>
                        <a:buNone/>
                      </a:pPr>
                      <a:r>
                        <a:rPr lang="en-US" sz="1300" u="none" cap="none" strike="noStrike">
                          <a:solidFill>
                            <a:srgbClr val="028090"/>
                          </a:solidFill>
                          <a:latin typeface="Times New Roman"/>
                          <a:ea typeface="Times New Roman"/>
                          <a:cs typeface="Times New Roman"/>
                          <a:sym typeface="Times New Roman"/>
                        </a:rPr>
                        <a:t>Good (labeled data)</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007700"/>
                        </a:buClr>
                        <a:buSzPts val="1300"/>
                        <a:buFont typeface="Times New Roman"/>
                        <a:buNone/>
                      </a:pPr>
                      <a:r>
                        <a:rPr b="1" lang="en-US" sz="1300" u="none" cap="none" strike="noStrike">
                          <a:solidFill>
                            <a:srgbClr val="007700"/>
                          </a:solidFill>
                          <a:latin typeface="Times New Roman"/>
                          <a:ea typeface="Times New Roman"/>
                          <a:cs typeface="Times New Roman"/>
                          <a:sym typeface="Times New Roman"/>
                        </a:rPr>
                        <a:t>Improved</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87675">
                <a:tc>
                  <a:txBody>
                    <a:bodyPr/>
                    <a:lstStyle/>
                    <a:p>
                      <a:pPr indent="0" lvl="0" marL="0" marR="0" rtl="0" algn="ctr">
                        <a:spcBef>
                          <a:spcPts val="0"/>
                        </a:spcBef>
                        <a:spcAft>
                          <a:spcPts val="0"/>
                        </a:spcAft>
                        <a:buClr>
                          <a:srgbClr val="000000"/>
                        </a:buClr>
                        <a:buSzPts val="1300"/>
                        <a:buFont typeface="Times New Roman"/>
                        <a:buNone/>
                      </a:pPr>
                      <a:r>
                        <a:rPr lang="en-US" sz="1300" u="none" cap="none" strike="noStrike">
                          <a:solidFill>
                            <a:srgbClr val="000000"/>
                          </a:solidFill>
                          <a:latin typeface="Times New Roman"/>
                          <a:ea typeface="Times New Roman"/>
                          <a:cs typeface="Times New Roman"/>
                          <a:sym typeface="Times New Roman"/>
                        </a:rPr>
                        <a:t>Computational Cost</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007700"/>
                        </a:buClr>
                        <a:buSzPts val="1300"/>
                        <a:buFont typeface="Times New Roman"/>
                        <a:buNone/>
                      </a:pPr>
                      <a:r>
                        <a:rPr b="1" lang="en-US" sz="1300" u="none" cap="none" strike="noStrike">
                          <a:solidFill>
                            <a:srgbClr val="007700"/>
                          </a:solidFill>
                          <a:latin typeface="Times New Roman"/>
                          <a:ea typeface="Times New Roman"/>
                          <a:cs typeface="Times New Roman"/>
                          <a:sym typeface="Times New Roman"/>
                        </a:rPr>
                        <a:t>Very Low</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028090"/>
                        </a:buClr>
                        <a:buSzPts val="1300"/>
                        <a:buFont typeface="Times New Roman"/>
                        <a:buNone/>
                      </a:pPr>
                      <a:r>
                        <a:rPr lang="en-US" sz="1300" u="none" cap="none" strike="noStrike">
                          <a:solidFill>
                            <a:srgbClr val="028090"/>
                          </a:solidFill>
                          <a:latin typeface="Times New Roman"/>
                          <a:ea typeface="Times New Roman"/>
                          <a:cs typeface="Times New Roman"/>
                          <a:sym typeface="Times New Roman"/>
                        </a:rPr>
                        <a:t>Low–Moderate</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028090"/>
                        </a:buClr>
                        <a:buSzPts val="1300"/>
                        <a:buFont typeface="Times New Roman"/>
                        <a:buNone/>
                      </a:pPr>
                      <a:r>
                        <a:rPr lang="en-US" sz="1300" u="none" cap="none" strike="noStrike">
                          <a:solidFill>
                            <a:srgbClr val="028090"/>
                          </a:solidFill>
                          <a:latin typeface="Times New Roman"/>
                          <a:ea typeface="Times New Roman"/>
                          <a:cs typeface="Times New Roman"/>
                          <a:sym typeface="Times New Roman"/>
                        </a:rPr>
                        <a:t>Low</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87675">
                <a:tc>
                  <a:txBody>
                    <a:bodyPr/>
                    <a:lstStyle/>
                    <a:p>
                      <a:pPr indent="0" lvl="0" marL="0" marR="0" rtl="0" algn="ctr">
                        <a:spcBef>
                          <a:spcPts val="0"/>
                        </a:spcBef>
                        <a:spcAft>
                          <a:spcPts val="0"/>
                        </a:spcAft>
                        <a:buClr>
                          <a:srgbClr val="000000"/>
                        </a:buClr>
                        <a:buSzPts val="1300"/>
                        <a:buFont typeface="Times New Roman"/>
                        <a:buNone/>
                      </a:pPr>
                      <a:r>
                        <a:rPr lang="en-US" sz="1300" u="none" cap="none" strike="noStrike">
                          <a:solidFill>
                            <a:srgbClr val="000000"/>
                          </a:solidFill>
                          <a:latin typeface="Times New Roman"/>
                          <a:ea typeface="Times New Roman"/>
                          <a:cs typeface="Times New Roman"/>
                          <a:sym typeface="Times New Roman"/>
                        </a:rPr>
                        <a:t>Real-time Suitability</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007700"/>
                        </a:buClr>
                        <a:buSzPts val="1300"/>
                        <a:buFont typeface="Times New Roman"/>
                        <a:buNone/>
                      </a:pPr>
                      <a:r>
                        <a:rPr b="1" lang="en-US" sz="1300" u="none" cap="none" strike="noStrike">
                          <a:solidFill>
                            <a:srgbClr val="007700"/>
                          </a:solidFill>
                          <a:latin typeface="Times New Roman"/>
                          <a:ea typeface="Times New Roman"/>
                          <a:cs typeface="Times New Roman"/>
                          <a:sym typeface="Times New Roman"/>
                        </a:rPr>
                        <a:t>Excellent</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028090"/>
                        </a:buClr>
                        <a:buSzPts val="1300"/>
                        <a:buFont typeface="Times New Roman"/>
                        <a:buNone/>
                      </a:pPr>
                      <a:r>
                        <a:rPr lang="en-US" sz="1300" u="none" cap="none" strike="noStrike">
                          <a:solidFill>
                            <a:srgbClr val="028090"/>
                          </a:solidFill>
                          <a:latin typeface="Times New Roman"/>
                          <a:ea typeface="Times New Roman"/>
                          <a:cs typeface="Times New Roman"/>
                          <a:sym typeface="Times New Roman"/>
                        </a:rPr>
                        <a:t>Good</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028090"/>
                        </a:buClr>
                        <a:buSzPts val="1300"/>
                        <a:buFont typeface="Times New Roman"/>
                        <a:buNone/>
                      </a:pPr>
                      <a:r>
                        <a:rPr lang="en-US" sz="1300" u="none" cap="none" strike="noStrike">
                          <a:solidFill>
                            <a:srgbClr val="028090"/>
                          </a:solidFill>
                          <a:latin typeface="Times New Roman"/>
                          <a:ea typeface="Times New Roman"/>
                          <a:cs typeface="Times New Roman"/>
                          <a:sym typeface="Times New Roman"/>
                        </a:rPr>
                        <a:t>Good</a:t>
                      </a:r>
                      <a:endParaRPr sz="1300" u="none" cap="none" strike="noStrike">
                        <a:latin typeface="Times New Roman"/>
                        <a:ea typeface="Times New Roman"/>
                        <a:cs typeface="Times New Roman"/>
                        <a:sym typeface="Times New Roman"/>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13" name="Google Shape;113;p8"/>
          <p:cNvSpPr/>
          <p:nvPr/>
        </p:nvSpPr>
        <p:spPr>
          <a:xfrm>
            <a:off x="365760" y="4892040"/>
            <a:ext cx="84124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300"/>
              <a:buFont typeface="Times New Roman"/>
              <a:buNone/>
            </a:pPr>
            <a:r>
              <a:rPr b="1" i="0" lang="en-US" sz="1500" u="none" cap="none" strike="noStrike">
                <a:solidFill>
                  <a:srgbClr val="000000"/>
                </a:solidFill>
                <a:latin typeface="Times New Roman"/>
                <a:ea typeface="Times New Roman"/>
                <a:cs typeface="Times New Roman"/>
                <a:sym typeface="Times New Roman"/>
              </a:rPr>
              <a:t>Key Finding:</a:t>
            </a:r>
            <a:r>
              <a:rPr b="0" i="0" lang="en-US" sz="1500" u="none" cap="none" strike="noStrike">
                <a:solidFill>
                  <a:srgbClr val="000000"/>
                </a:solidFill>
                <a:latin typeface="Times New Roman"/>
                <a:ea typeface="Times New Roman"/>
                <a:cs typeface="Times New Roman"/>
                <a:sym typeface="Times New Roman"/>
              </a:rPr>
              <a:t> Rule-based systems excel in speed but fail against evolving anomaly patterns. Isolation Forest provides the best adaptability and lowest FPR. Logistic Regression performs well on structured labeled data but struggles with novel patterns.</a:t>
            </a:r>
            <a:endParaRPr b="0" i="0" sz="1500" u="none" cap="none" strike="noStrike">
              <a:solidFill>
                <a:schemeClr val="dk1"/>
              </a:solidFill>
              <a:latin typeface="Calibri"/>
              <a:ea typeface="Calibri"/>
              <a:cs typeface="Calibri"/>
              <a:sym typeface="Calibri"/>
            </a:endParaRPr>
          </a:p>
        </p:txBody>
      </p:sp>
      <p:sp>
        <p:nvSpPr>
          <p:cNvPr id="114" name="Google Shape;114;p8"/>
          <p:cNvSpPr/>
          <p:nvPr/>
        </p:nvSpPr>
        <p:spPr>
          <a:xfrm>
            <a:off x="365760" y="5532120"/>
            <a:ext cx="841248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300"/>
              <a:buFont typeface="Times New Roman"/>
              <a:buNone/>
            </a:pPr>
            <a:r>
              <a:rPr b="1" i="0" lang="en-US" sz="1500" u="none" cap="none" strike="noStrike">
                <a:solidFill>
                  <a:srgbClr val="000000"/>
                </a:solidFill>
                <a:latin typeface="Times New Roman"/>
                <a:ea typeface="Times New Roman"/>
                <a:cs typeface="Times New Roman"/>
                <a:sym typeface="Times New Roman"/>
              </a:rPr>
              <a:t>Conclusion:</a:t>
            </a:r>
            <a:r>
              <a:rPr b="0" i="0" lang="en-US" sz="1500" u="none" cap="none" strike="noStrike">
                <a:solidFill>
                  <a:srgbClr val="000000"/>
                </a:solidFill>
                <a:latin typeface="Times New Roman"/>
                <a:ea typeface="Times New Roman"/>
                <a:cs typeface="Times New Roman"/>
                <a:sym typeface="Times New Roman"/>
              </a:rPr>
              <a:t> Hybrid frameworks combining rule-based efficiency with ML adaptability represent the most promising direction for large-scale backend monitoring.</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9"/>
          <p:cNvSpPr/>
          <p:nvPr/>
        </p:nvSpPr>
        <p:spPr>
          <a:xfrm>
            <a:off x="0" y="0"/>
            <a:ext cx="9144000" cy="837590"/>
          </a:xfrm>
          <a:prstGeom prst="rect">
            <a:avLst/>
          </a:prstGeom>
          <a:solidFill>
            <a:srgbClr val="FF3300"/>
          </a:solidFill>
          <a:ln cap="flat" cmpd="sng" w="12700">
            <a:solidFill>
              <a:srgbClr val="FF3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logo2.jpeg" id="121" name="Google Shape;121;p9"/>
          <p:cNvPicPr preferRelativeResize="0"/>
          <p:nvPr/>
        </p:nvPicPr>
        <p:blipFill rotWithShape="1">
          <a:blip r:embed="rId3">
            <a:alphaModFix/>
          </a:blip>
          <a:srcRect b="0" l="0" r="0" t="0"/>
          <a:stretch/>
        </p:blipFill>
        <p:spPr>
          <a:xfrm>
            <a:off x="6553505" y="228600"/>
            <a:ext cx="2057400" cy="634594"/>
          </a:xfrm>
          <a:prstGeom prst="rect">
            <a:avLst/>
          </a:prstGeom>
          <a:noFill/>
          <a:ln>
            <a:noFill/>
          </a:ln>
        </p:spPr>
      </p:pic>
      <p:sp>
        <p:nvSpPr>
          <p:cNvPr id="122" name="Google Shape;122;p9"/>
          <p:cNvSpPr/>
          <p:nvPr/>
        </p:nvSpPr>
        <p:spPr>
          <a:xfrm>
            <a:off x="0" y="6656832"/>
            <a:ext cx="9144000" cy="201168"/>
          </a:xfrm>
          <a:prstGeom prst="rect">
            <a:avLst/>
          </a:prstGeom>
          <a:solidFill>
            <a:srgbClr val="FF0000"/>
          </a:solidFill>
          <a:ln cap="flat" cmpd="sng" w="127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9"/>
          <p:cNvSpPr/>
          <p:nvPr/>
        </p:nvSpPr>
        <p:spPr>
          <a:xfrm>
            <a:off x="274320" y="92903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Times New Roman"/>
              <a:buNone/>
            </a:pPr>
            <a:r>
              <a:rPr b="1" i="0" lang="en-US" sz="2900" u="none" cap="none" strike="noStrike">
                <a:solidFill>
                  <a:srgbClr val="000000"/>
                </a:solidFill>
                <a:latin typeface="Times New Roman"/>
                <a:ea typeface="Times New Roman"/>
                <a:cs typeface="Times New Roman"/>
                <a:sym typeface="Times New Roman"/>
              </a:rPr>
              <a:t>Challenges in Log Anomaly Detection</a:t>
            </a:r>
            <a:endParaRPr b="0" i="0" sz="2900" u="none" cap="none" strike="noStrike">
              <a:solidFill>
                <a:schemeClr val="dk1"/>
              </a:solidFill>
              <a:latin typeface="Calibri"/>
              <a:ea typeface="Calibri"/>
              <a:cs typeface="Calibri"/>
              <a:sym typeface="Calibri"/>
            </a:endParaRPr>
          </a:p>
        </p:txBody>
      </p:sp>
      <p:sp>
        <p:nvSpPr>
          <p:cNvPr id="124" name="Google Shape;124;p9"/>
          <p:cNvSpPr/>
          <p:nvPr/>
        </p:nvSpPr>
        <p:spPr>
          <a:xfrm>
            <a:off x="274320" y="1450238"/>
            <a:ext cx="8595360" cy="22860"/>
          </a:xfrm>
          <a:prstGeom prst="rect">
            <a:avLst/>
          </a:prstGeom>
          <a:solidFill>
            <a:srgbClr val="CCCCCC"/>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9"/>
          <p:cNvSpPr/>
          <p:nvPr/>
        </p:nvSpPr>
        <p:spPr>
          <a:xfrm>
            <a:off x="8686800" y="6492240"/>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F81BD"/>
              </a:buClr>
              <a:buSzPts val="1200"/>
              <a:buFont typeface="Times New Roman"/>
              <a:buNone/>
            </a:pPr>
            <a:r>
              <a:rPr b="0" i="0" lang="en-US" sz="1200" u="none" cap="none" strike="noStrike">
                <a:solidFill>
                  <a:srgbClr val="4F81BD"/>
                </a:solidFill>
                <a:latin typeface="Times New Roman"/>
                <a:ea typeface="Times New Roman"/>
                <a:cs typeface="Times New Roman"/>
                <a:sym typeface="Times New Roman"/>
              </a:rPr>
              <a:t>7</a:t>
            </a:r>
            <a:endParaRPr b="0" i="0" sz="1200" u="none" cap="none" strike="noStrike">
              <a:solidFill>
                <a:schemeClr val="dk1"/>
              </a:solidFill>
              <a:latin typeface="Calibri"/>
              <a:ea typeface="Calibri"/>
              <a:cs typeface="Calibri"/>
              <a:sym typeface="Calibri"/>
            </a:endParaRPr>
          </a:p>
        </p:txBody>
      </p:sp>
      <p:sp>
        <p:nvSpPr>
          <p:cNvPr id="126" name="Google Shape;126;p9"/>
          <p:cNvSpPr/>
          <p:nvPr/>
        </p:nvSpPr>
        <p:spPr>
          <a:xfrm>
            <a:off x="274320" y="1874520"/>
            <a:ext cx="4114800" cy="1554480"/>
          </a:xfrm>
          <a:prstGeom prst="rect">
            <a:avLst/>
          </a:prstGeom>
          <a:solidFill>
            <a:srgbClr val="F8F8F8"/>
          </a:solidFill>
          <a:ln cap="flat" cmpd="sng" w="25400">
            <a:solidFill>
              <a:srgbClr val="CC0000"/>
            </a:solidFill>
            <a:prstDash val="solid"/>
            <a:round/>
            <a:headEnd len="sm" w="sm" type="none"/>
            <a:tailEnd len="sm" w="sm" type="none"/>
          </a:ln>
          <a:effectLst>
            <a:outerShdw blurRad="508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9"/>
          <p:cNvSpPr/>
          <p:nvPr/>
        </p:nvSpPr>
        <p:spPr>
          <a:xfrm>
            <a:off x="274320" y="1874520"/>
            <a:ext cx="82296" cy="1554480"/>
          </a:xfrm>
          <a:prstGeom prst="rect">
            <a:avLst/>
          </a:prstGeom>
          <a:solidFill>
            <a:srgbClr val="CC0000"/>
          </a:solidFill>
          <a:ln cap="flat" cmpd="sng" w="127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
          <p:cNvSpPr/>
          <p:nvPr/>
        </p:nvSpPr>
        <p:spPr>
          <a:xfrm>
            <a:off x="429768" y="2011680"/>
            <a:ext cx="39136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0000"/>
              </a:buClr>
              <a:buSzPts val="1500"/>
              <a:buFont typeface="Times New Roman"/>
              <a:buNone/>
            </a:pPr>
            <a:r>
              <a:rPr b="1" i="0" lang="en-US" sz="1500" u="none" cap="none" strike="noStrike">
                <a:solidFill>
                  <a:srgbClr val="CC0000"/>
                </a:solidFill>
                <a:latin typeface="Times New Roman"/>
                <a:ea typeface="Times New Roman"/>
                <a:cs typeface="Times New Roman"/>
                <a:sym typeface="Times New Roman"/>
              </a:rPr>
              <a:t>1. Unstructured Log Data</a:t>
            </a:r>
            <a:endParaRPr b="0" i="0" sz="1500" u="none" cap="none" strike="noStrike">
              <a:solidFill>
                <a:schemeClr val="dk1"/>
              </a:solidFill>
              <a:latin typeface="Calibri"/>
              <a:ea typeface="Calibri"/>
              <a:cs typeface="Calibri"/>
              <a:sym typeface="Calibri"/>
            </a:endParaRPr>
          </a:p>
        </p:txBody>
      </p:sp>
      <p:sp>
        <p:nvSpPr>
          <p:cNvPr id="129" name="Google Shape;129;p9"/>
          <p:cNvSpPr/>
          <p:nvPr/>
        </p:nvSpPr>
        <p:spPr>
          <a:xfrm>
            <a:off x="429768" y="2395728"/>
            <a:ext cx="3913632"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300"/>
              <a:buFont typeface="Times New Roman"/>
              <a:buNone/>
            </a:pPr>
            <a:r>
              <a:rPr b="0" i="0" lang="en-US" sz="1500" u="none" cap="none" strike="noStrike">
                <a:solidFill>
                  <a:srgbClr val="333333"/>
                </a:solidFill>
                <a:latin typeface="Times New Roman"/>
                <a:ea typeface="Times New Roman"/>
                <a:cs typeface="Times New Roman"/>
                <a:sym typeface="Times New Roman"/>
              </a:rPr>
              <a:t>Logs are generated in free-text format, making feature extraction complex and model-dependent.</a:t>
            </a:r>
            <a:endParaRPr b="0" i="0" sz="1500" u="none" cap="none" strike="noStrike">
              <a:solidFill>
                <a:schemeClr val="dk1"/>
              </a:solidFill>
              <a:latin typeface="Calibri"/>
              <a:ea typeface="Calibri"/>
              <a:cs typeface="Calibri"/>
              <a:sym typeface="Calibri"/>
            </a:endParaRPr>
          </a:p>
        </p:txBody>
      </p:sp>
      <p:sp>
        <p:nvSpPr>
          <p:cNvPr id="130" name="Google Shape;130;p9"/>
          <p:cNvSpPr/>
          <p:nvPr/>
        </p:nvSpPr>
        <p:spPr>
          <a:xfrm>
            <a:off x="4526280" y="1874520"/>
            <a:ext cx="4114800" cy="1554480"/>
          </a:xfrm>
          <a:prstGeom prst="rect">
            <a:avLst/>
          </a:prstGeom>
          <a:solidFill>
            <a:srgbClr val="F8F8F8"/>
          </a:solidFill>
          <a:ln cap="flat" cmpd="sng" w="25400">
            <a:solidFill>
              <a:srgbClr val="1F497D"/>
            </a:solidFill>
            <a:prstDash val="solid"/>
            <a:round/>
            <a:headEnd len="sm" w="sm" type="none"/>
            <a:tailEnd len="sm" w="sm" type="none"/>
          </a:ln>
          <a:effectLst>
            <a:outerShdw blurRad="508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
          <p:cNvSpPr/>
          <p:nvPr/>
        </p:nvSpPr>
        <p:spPr>
          <a:xfrm>
            <a:off x="4526280" y="1874520"/>
            <a:ext cx="82296" cy="1554480"/>
          </a:xfrm>
          <a:prstGeom prst="rect">
            <a:avLst/>
          </a:prstGeom>
          <a:solidFill>
            <a:srgbClr val="1F497D"/>
          </a:solidFill>
          <a:ln cap="flat" cmpd="sng" w="1270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
          <p:cNvSpPr/>
          <p:nvPr/>
        </p:nvSpPr>
        <p:spPr>
          <a:xfrm>
            <a:off x="4681728" y="2011680"/>
            <a:ext cx="39136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97D"/>
              </a:buClr>
              <a:buSzPts val="1500"/>
              <a:buFont typeface="Times New Roman"/>
              <a:buNone/>
            </a:pPr>
            <a:r>
              <a:rPr b="1" i="0" lang="en-US" sz="1500" u="none" cap="none" strike="noStrike">
                <a:solidFill>
                  <a:srgbClr val="1F497D"/>
                </a:solidFill>
                <a:latin typeface="Times New Roman"/>
                <a:ea typeface="Times New Roman"/>
                <a:cs typeface="Times New Roman"/>
                <a:sym typeface="Times New Roman"/>
              </a:rPr>
              <a:t>2. Data Imbalance</a:t>
            </a:r>
            <a:endParaRPr b="0" i="0" sz="1500" u="none" cap="none" strike="noStrike">
              <a:solidFill>
                <a:schemeClr val="dk1"/>
              </a:solidFill>
              <a:latin typeface="Calibri"/>
              <a:ea typeface="Calibri"/>
              <a:cs typeface="Calibri"/>
              <a:sym typeface="Calibri"/>
            </a:endParaRPr>
          </a:p>
        </p:txBody>
      </p:sp>
      <p:sp>
        <p:nvSpPr>
          <p:cNvPr id="133" name="Google Shape;133;p9"/>
          <p:cNvSpPr/>
          <p:nvPr/>
        </p:nvSpPr>
        <p:spPr>
          <a:xfrm>
            <a:off x="4681728" y="2395728"/>
            <a:ext cx="3913632"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300"/>
              <a:buFont typeface="Times New Roman"/>
              <a:buNone/>
            </a:pPr>
            <a:r>
              <a:rPr b="0" i="0" lang="en-US" sz="1500" u="none" cap="none" strike="noStrike">
                <a:solidFill>
                  <a:srgbClr val="333333"/>
                </a:solidFill>
                <a:latin typeface="Times New Roman"/>
                <a:ea typeface="Times New Roman"/>
                <a:cs typeface="Times New Roman"/>
                <a:sym typeface="Times New Roman"/>
              </a:rPr>
              <a:t>Anomalies are rare compared to normal events; imbalanced datasets reduce ML model accuracy significantly.</a:t>
            </a:r>
            <a:endParaRPr b="0" i="0" sz="1500" u="none" cap="none" strike="noStrike">
              <a:solidFill>
                <a:schemeClr val="dk1"/>
              </a:solidFill>
              <a:latin typeface="Calibri"/>
              <a:ea typeface="Calibri"/>
              <a:cs typeface="Calibri"/>
              <a:sym typeface="Calibri"/>
            </a:endParaRPr>
          </a:p>
        </p:txBody>
      </p:sp>
      <p:sp>
        <p:nvSpPr>
          <p:cNvPr id="134" name="Google Shape;134;p9"/>
          <p:cNvSpPr/>
          <p:nvPr/>
        </p:nvSpPr>
        <p:spPr>
          <a:xfrm>
            <a:off x="274320" y="3657600"/>
            <a:ext cx="4114800" cy="1554480"/>
          </a:xfrm>
          <a:prstGeom prst="rect">
            <a:avLst/>
          </a:prstGeom>
          <a:solidFill>
            <a:srgbClr val="F8F8F8"/>
          </a:solidFill>
          <a:ln cap="flat" cmpd="sng" w="25400">
            <a:solidFill>
              <a:srgbClr val="028090"/>
            </a:solidFill>
            <a:prstDash val="solid"/>
            <a:round/>
            <a:headEnd len="sm" w="sm" type="none"/>
            <a:tailEnd len="sm" w="sm" type="none"/>
          </a:ln>
          <a:effectLst>
            <a:outerShdw blurRad="508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
          <p:cNvSpPr/>
          <p:nvPr/>
        </p:nvSpPr>
        <p:spPr>
          <a:xfrm>
            <a:off x="274320" y="3657600"/>
            <a:ext cx="82296" cy="1554480"/>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
          <p:cNvSpPr/>
          <p:nvPr/>
        </p:nvSpPr>
        <p:spPr>
          <a:xfrm>
            <a:off x="429768" y="3794760"/>
            <a:ext cx="39136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500"/>
              <a:buFont typeface="Times New Roman"/>
              <a:buNone/>
            </a:pPr>
            <a:r>
              <a:rPr b="1" i="0" lang="en-US" sz="1500" u="none" cap="none" strike="noStrike">
                <a:solidFill>
                  <a:srgbClr val="028090"/>
                </a:solidFill>
                <a:latin typeface="Times New Roman"/>
                <a:ea typeface="Times New Roman"/>
                <a:cs typeface="Times New Roman"/>
                <a:sym typeface="Times New Roman"/>
              </a:rPr>
              <a:t>3. Scalability</a:t>
            </a:r>
            <a:endParaRPr b="0" i="0" sz="1500" u="none" cap="none" strike="noStrike">
              <a:solidFill>
                <a:schemeClr val="dk1"/>
              </a:solidFill>
              <a:latin typeface="Calibri"/>
              <a:ea typeface="Calibri"/>
              <a:cs typeface="Calibri"/>
              <a:sym typeface="Calibri"/>
            </a:endParaRPr>
          </a:p>
        </p:txBody>
      </p:sp>
      <p:sp>
        <p:nvSpPr>
          <p:cNvPr id="137" name="Google Shape;137;p9"/>
          <p:cNvSpPr/>
          <p:nvPr/>
        </p:nvSpPr>
        <p:spPr>
          <a:xfrm>
            <a:off x="429768" y="4178808"/>
            <a:ext cx="3913632"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300"/>
              <a:buFont typeface="Times New Roman"/>
              <a:buNone/>
            </a:pPr>
            <a:r>
              <a:rPr b="0" i="0" lang="en-US" sz="1500" u="none" cap="none" strike="noStrike">
                <a:solidFill>
                  <a:srgbClr val="333333"/>
                </a:solidFill>
                <a:latin typeface="Times New Roman"/>
                <a:ea typeface="Times New Roman"/>
                <a:cs typeface="Times New Roman"/>
                <a:sym typeface="Times New Roman"/>
              </a:rPr>
              <a:t>Distributed systems produce millions of log entries per hour, demanding real-time processing efficiency.</a:t>
            </a:r>
            <a:endParaRPr b="0" i="0" sz="1500" u="none" cap="none" strike="noStrike">
              <a:solidFill>
                <a:schemeClr val="dk1"/>
              </a:solidFill>
              <a:latin typeface="Calibri"/>
              <a:ea typeface="Calibri"/>
              <a:cs typeface="Calibri"/>
              <a:sym typeface="Calibri"/>
            </a:endParaRPr>
          </a:p>
        </p:txBody>
      </p:sp>
      <p:sp>
        <p:nvSpPr>
          <p:cNvPr id="138" name="Google Shape;138;p9"/>
          <p:cNvSpPr/>
          <p:nvPr/>
        </p:nvSpPr>
        <p:spPr>
          <a:xfrm>
            <a:off x="4526280" y="3657600"/>
            <a:ext cx="4114800" cy="1554480"/>
          </a:xfrm>
          <a:prstGeom prst="rect">
            <a:avLst/>
          </a:prstGeom>
          <a:solidFill>
            <a:srgbClr val="F8F8F8"/>
          </a:solidFill>
          <a:ln cap="flat" cmpd="sng" w="25400">
            <a:solidFill>
              <a:srgbClr val="9BBB59"/>
            </a:solidFill>
            <a:prstDash val="solid"/>
            <a:round/>
            <a:headEnd len="sm" w="sm" type="none"/>
            <a:tailEnd len="sm" w="sm" type="none"/>
          </a:ln>
          <a:effectLst>
            <a:outerShdw blurRad="508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
          <p:cNvSpPr/>
          <p:nvPr/>
        </p:nvSpPr>
        <p:spPr>
          <a:xfrm>
            <a:off x="4526280" y="3657600"/>
            <a:ext cx="82296" cy="1554480"/>
          </a:xfrm>
          <a:prstGeom prst="rect">
            <a:avLst/>
          </a:prstGeom>
          <a:solidFill>
            <a:srgbClr val="9BBB59"/>
          </a:solidFill>
          <a:ln cap="flat" cmpd="sng" w="12700">
            <a:solidFill>
              <a:srgbClr val="9BBB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
          <p:cNvSpPr/>
          <p:nvPr/>
        </p:nvSpPr>
        <p:spPr>
          <a:xfrm>
            <a:off x="4681728" y="3794760"/>
            <a:ext cx="39136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BB59"/>
              </a:buClr>
              <a:buSzPts val="1500"/>
              <a:buFont typeface="Times New Roman"/>
              <a:buNone/>
            </a:pPr>
            <a:r>
              <a:rPr b="1" i="0" lang="en-US" sz="1500" u="none" cap="none" strike="noStrike">
                <a:solidFill>
                  <a:srgbClr val="9BBB59"/>
                </a:solidFill>
                <a:latin typeface="Times New Roman"/>
                <a:ea typeface="Times New Roman"/>
                <a:cs typeface="Times New Roman"/>
                <a:sym typeface="Times New Roman"/>
              </a:rPr>
              <a:t>4. Evolving System Behavior</a:t>
            </a:r>
            <a:endParaRPr b="0" i="0" sz="1500" u="none" cap="none" strike="noStrike">
              <a:solidFill>
                <a:schemeClr val="dk1"/>
              </a:solidFill>
              <a:latin typeface="Calibri"/>
              <a:ea typeface="Calibri"/>
              <a:cs typeface="Calibri"/>
              <a:sym typeface="Calibri"/>
            </a:endParaRPr>
          </a:p>
        </p:txBody>
      </p:sp>
      <p:sp>
        <p:nvSpPr>
          <p:cNvPr id="141" name="Google Shape;141;p9"/>
          <p:cNvSpPr/>
          <p:nvPr/>
        </p:nvSpPr>
        <p:spPr>
          <a:xfrm>
            <a:off x="4681728" y="4178808"/>
            <a:ext cx="3913632"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300"/>
              <a:buFont typeface="Times New Roman"/>
              <a:buNone/>
            </a:pPr>
            <a:r>
              <a:rPr b="0" i="0" lang="en-US" sz="1500" u="none" cap="none" strike="noStrike">
                <a:solidFill>
                  <a:srgbClr val="333333"/>
                </a:solidFill>
                <a:latin typeface="Times New Roman"/>
                <a:ea typeface="Times New Roman"/>
                <a:cs typeface="Times New Roman"/>
                <a:sym typeface="Times New Roman"/>
              </a:rPr>
              <a:t>Models become outdated as system behaviors change; periodic retraining and adaptation is necessary.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p10"/>
          <p:cNvSpPr/>
          <p:nvPr/>
        </p:nvSpPr>
        <p:spPr>
          <a:xfrm>
            <a:off x="0" y="0"/>
            <a:ext cx="9144000" cy="837590"/>
          </a:xfrm>
          <a:prstGeom prst="rect">
            <a:avLst/>
          </a:prstGeom>
          <a:solidFill>
            <a:srgbClr val="FF3300"/>
          </a:solidFill>
          <a:ln cap="flat" cmpd="sng" w="12700">
            <a:solidFill>
              <a:srgbClr val="FF3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logo2.jpeg" id="148" name="Google Shape;148;p10"/>
          <p:cNvPicPr preferRelativeResize="0"/>
          <p:nvPr/>
        </p:nvPicPr>
        <p:blipFill rotWithShape="1">
          <a:blip r:embed="rId3">
            <a:alphaModFix/>
          </a:blip>
          <a:srcRect b="0" l="0" r="0" t="0"/>
          <a:stretch/>
        </p:blipFill>
        <p:spPr>
          <a:xfrm>
            <a:off x="6553505" y="228600"/>
            <a:ext cx="2057400" cy="634594"/>
          </a:xfrm>
          <a:prstGeom prst="rect">
            <a:avLst/>
          </a:prstGeom>
          <a:noFill/>
          <a:ln>
            <a:noFill/>
          </a:ln>
        </p:spPr>
      </p:pic>
      <p:sp>
        <p:nvSpPr>
          <p:cNvPr id="149" name="Google Shape;149;p10"/>
          <p:cNvSpPr/>
          <p:nvPr/>
        </p:nvSpPr>
        <p:spPr>
          <a:xfrm>
            <a:off x="0" y="6656832"/>
            <a:ext cx="9144000" cy="201168"/>
          </a:xfrm>
          <a:prstGeom prst="rect">
            <a:avLst/>
          </a:prstGeom>
          <a:solidFill>
            <a:srgbClr val="FF0000"/>
          </a:solidFill>
          <a:ln cap="flat" cmpd="sng" w="127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0"/>
          <p:cNvSpPr/>
          <p:nvPr/>
        </p:nvSpPr>
        <p:spPr>
          <a:xfrm>
            <a:off x="274320" y="92903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Times New Roman"/>
              <a:buNone/>
            </a:pPr>
            <a:r>
              <a:rPr b="1" i="0" lang="en-US" sz="3500" u="none" cap="none" strike="noStrike">
                <a:solidFill>
                  <a:srgbClr val="000000"/>
                </a:solidFill>
                <a:latin typeface="Times New Roman"/>
                <a:ea typeface="Times New Roman"/>
                <a:cs typeface="Times New Roman"/>
                <a:sym typeface="Times New Roman"/>
              </a:rPr>
              <a:t>Future Work</a:t>
            </a:r>
            <a:endParaRPr b="0" i="0" sz="3500" u="none" cap="none" strike="noStrike">
              <a:solidFill>
                <a:schemeClr val="dk1"/>
              </a:solidFill>
              <a:latin typeface="Calibri"/>
              <a:ea typeface="Calibri"/>
              <a:cs typeface="Calibri"/>
              <a:sym typeface="Calibri"/>
            </a:endParaRPr>
          </a:p>
        </p:txBody>
      </p:sp>
      <p:sp>
        <p:nvSpPr>
          <p:cNvPr id="151" name="Google Shape;151;p10"/>
          <p:cNvSpPr/>
          <p:nvPr/>
        </p:nvSpPr>
        <p:spPr>
          <a:xfrm>
            <a:off x="274320" y="1450238"/>
            <a:ext cx="8595360" cy="22860"/>
          </a:xfrm>
          <a:prstGeom prst="rect">
            <a:avLst/>
          </a:prstGeom>
          <a:solidFill>
            <a:srgbClr val="CCCCCC"/>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0"/>
          <p:cNvSpPr/>
          <p:nvPr/>
        </p:nvSpPr>
        <p:spPr>
          <a:xfrm>
            <a:off x="8686800" y="6492240"/>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F81BD"/>
              </a:buClr>
              <a:buSzPts val="1200"/>
              <a:buFont typeface="Times New Roman"/>
              <a:buNone/>
            </a:pPr>
            <a:r>
              <a:rPr b="0" i="0" lang="en-US" sz="1200" u="none" cap="none" strike="noStrike">
                <a:solidFill>
                  <a:srgbClr val="4F81BD"/>
                </a:solidFill>
                <a:latin typeface="Times New Roman"/>
                <a:ea typeface="Times New Roman"/>
                <a:cs typeface="Times New Roman"/>
                <a:sym typeface="Times New Roman"/>
              </a:rPr>
              <a:t>8</a:t>
            </a:r>
            <a:endParaRPr b="0" i="0" sz="1200" u="none" cap="none" strike="noStrike">
              <a:solidFill>
                <a:schemeClr val="dk1"/>
              </a:solidFill>
              <a:latin typeface="Calibri"/>
              <a:ea typeface="Calibri"/>
              <a:cs typeface="Calibri"/>
              <a:sym typeface="Calibri"/>
            </a:endParaRPr>
          </a:p>
        </p:txBody>
      </p:sp>
      <p:sp>
        <p:nvSpPr>
          <p:cNvPr id="153" name="Google Shape;153;p10"/>
          <p:cNvSpPr/>
          <p:nvPr/>
        </p:nvSpPr>
        <p:spPr>
          <a:xfrm>
            <a:off x="365760" y="1569110"/>
            <a:ext cx="8412480" cy="5669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400"/>
              <a:buFont typeface="Times New Roman"/>
              <a:buNone/>
            </a:pPr>
            <a:r>
              <a:rPr b="1" i="0" lang="en-US" sz="1800" u="none" cap="none" strike="noStrike">
                <a:solidFill>
                  <a:srgbClr val="000000"/>
                </a:solidFill>
                <a:latin typeface="Times New Roman"/>
                <a:ea typeface="Times New Roman"/>
                <a:cs typeface="Times New Roman"/>
                <a:sym typeface="Times New Roman"/>
              </a:rPr>
              <a:t>Hybrid Detection Frameworks:</a:t>
            </a:r>
            <a:endParaRPr b="0" i="0" sz="1800" u="none" cap="none" strike="noStrike">
              <a:solidFill>
                <a:schemeClr val="dk1"/>
              </a:solidFill>
              <a:latin typeface="Calibri"/>
              <a:ea typeface="Calibri"/>
              <a:cs typeface="Calibri"/>
              <a:sym typeface="Calibri"/>
            </a:endParaRPr>
          </a:p>
          <a:p>
            <a:pPr indent="-368300" lvl="1" marL="685800" marR="0" rtl="0" algn="l">
              <a:spcBef>
                <a:spcPts val="4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Combine rule-based monitoring with ML models to leverage speed of static rules and adaptability of learned models simultaneously.</a:t>
            </a:r>
            <a:endParaRPr b="0" i="0" sz="18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000000"/>
              </a:buClr>
              <a:buSzPts val="1400"/>
              <a:buFont typeface="Times New Roman"/>
              <a:buNone/>
            </a:pPr>
            <a:r>
              <a:rPr b="1" i="0" lang="en-US" sz="1800" u="none" cap="none" strike="noStrike">
                <a:solidFill>
                  <a:srgbClr val="000000"/>
                </a:solidFill>
                <a:latin typeface="Times New Roman"/>
                <a:ea typeface="Times New Roman"/>
                <a:cs typeface="Times New Roman"/>
                <a:sym typeface="Times New Roman"/>
              </a:rPr>
              <a:t>Real-Time Streaming Integration:</a:t>
            </a:r>
            <a:endParaRPr b="0" i="0" sz="1800" u="none" cap="none" strike="noStrike">
              <a:solidFill>
                <a:schemeClr val="dk1"/>
              </a:solidFill>
              <a:latin typeface="Calibri"/>
              <a:ea typeface="Calibri"/>
              <a:cs typeface="Calibri"/>
              <a:sym typeface="Calibri"/>
            </a:endParaRPr>
          </a:p>
          <a:p>
            <a:pPr indent="-368300" lvl="1" marL="685800" marR="0" rtl="0" algn="l">
              <a:spcBef>
                <a:spcPts val="4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Deploy anomaly detection on Apache Kafka and Spark Streaming pipelines for continuous real-time log analysis at production scale.</a:t>
            </a:r>
            <a:endParaRPr b="0" i="0" sz="18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000000"/>
              </a:buClr>
              <a:buSzPts val="1400"/>
              <a:buFont typeface="Times New Roman"/>
              <a:buNone/>
            </a:pPr>
            <a:r>
              <a:rPr b="1" i="0" lang="en-US" sz="1800" u="none" cap="none" strike="noStrike">
                <a:solidFill>
                  <a:srgbClr val="000000"/>
                </a:solidFill>
                <a:latin typeface="Times New Roman"/>
                <a:ea typeface="Times New Roman"/>
                <a:cs typeface="Times New Roman"/>
                <a:sym typeface="Times New Roman"/>
              </a:rPr>
              <a:t>Advanced Deep Learning Models:</a:t>
            </a:r>
            <a:endParaRPr b="0" i="0" sz="1800" u="none" cap="none" strike="noStrike">
              <a:solidFill>
                <a:schemeClr val="dk1"/>
              </a:solidFill>
              <a:latin typeface="Calibri"/>
              <a:ea typeface="Calibri"/>
              <a:cs typeface="Calibri"/>
              <a:sym typeface="Calibri"/>
            </a:endParaRPr>
          </a:p>
          <a:p>
            <a:pPr indent="-368300" lvl="1" marL="685800" marR="0" rtl="0" algn="l">
              <a:spcBef>
                <a:spcPts val="4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Explore transformer-based architectures (BERT, GPT) and graph neural networks to capture complex contextual relationships between log events.</a:t>
            </a:r>
            <a:endParaRPr b="0" i="0" sz="18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000000"/>
              </a:buClr>
              <a:buSzPts val="1400"/>
              <a:buFont typeface="Times New Roman"/>
              <a:buNone/>
            </a:pPr>
            <a:r>
              <a:rPr b="1" i="0" lang="en-US" sz="1800" u="none" cap="none" strike="noStrike">
                <a:solidFill>
                  <a:srgbClr val="000000"/>
                </a:solidFill>
                <a:latin typeface="Times New Roman"/>
                <a:ea typeface="Times New Roman"/>
                <a:cs typeface="Times New Roman"/>
                <a:sym typeface="Times New Roman"/>
              </a:rPr>
              <a:t>Adaptive Threshold Optimization:</a:t>
            </a:r>
            <a:endParaRPr b="0" i="0" sz="1800" u="none" cap="none" strike="noStrike">
              <a:solidFill>
                <a:schemeClr val="dk1"/>
              </a:solidFill>
              <a:latin typeface="Calibri"/>
              <a:ea typeface="Calibri"/>
              <a:cs typeface="Calibri"/>
              <a:sym typeface="Calibri"/>
            </a:endParaRPr>
          </a:p>
          <a:p>
            <a:pPr indent="-368300" lvl="1" marL="685800" marR="0" rtl="0" algn="l">
              <a:spcBef>
                <a:spcPts val="4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Develop dynamic, self-adjusting thresholds that evolve with changing system behaviors to reduce model retraining frequency.</a:t>
            </a:r>
            <a:endParaRPr b="0" i="0" sz="18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000000"/>
              </a:buClr>
              <a:buSzPts val="1400"/>
              <a:buFont typeface="Times New Roman"/>
              <a:buNone/>
            </a:pPr>
            <a:r>
              <a:rPr b="1" i="0" lang="en-US" sz="1800" u="none" cap="none" strike="noStrike">
                <a:solidFill>
                  <a:srgbClr val="000000"/>
                </a:solidFill>
                <a:latin typeface="Times New Roman"/>
                <a:ea typeface="Times New Roman"/>
                <a:cs typeface="Times New Roman"/>
                <a:sym typeface="Times New Roman"/>
              </a:rPr>
              <a:t>Imbalanced Data Techniques:</a:t>
            </a:r>
            <a:endParaRPr b="0" i="0" sz="1800" u="none" cap="none" strike="noStrike">
              <a:solidFill>
                <a:schemeClr val="dk1"/>
              </a:solidFill>
              <a:latin typeface="Calibri"/>
              <a:ea typeface="Calibri"/>
              <a:cs typeface="Calibri"/>
              <a:sym typeface="Calibri"/>
            </a:endParaRPr>
          </a:p>
          <a:p>
            <a:pPr indent="-368300" lvl="1" marL="685800" marR="0" rtl="0" algn="l">
              <a:spcBef>
                <a:spcPts val="4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Apply SMOTE, cost-sensitive learning, and active learning to improve detection accuracy on rare anomaly classes.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p11"/>
          <p:cNvSpPr/>
          <p:nvPr/>
        </p:nvSpPr>
        <p:spPr>
          <a:xfrm>
            <a:off x="0" y="0"/>
            <a:ext cx="9144000" cy="837590"/>
          </a:xfrm>
          <a:prstGeom prst="rect">
            <a:avLst/>
          </a:prstGeom>
          <a:solidFill>
            <a:srgbClr val="FF3300"/>
          </a:solidFill>
          <a:ln cap="flat" cmpd="sng" w="12700">
            <a:solidFill>
              <a:srgbClr val="FF3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logo2.jpeg" id="160" name="Google Shape;160;p11"/>
          <p:cNvPicPr preferRelativeResize="0"/>
          <p:nvPr/>
        </p:nvPicPr>
        <p:blipFill rotWithShape="1">
          <a:blip r:embed="rId3">
            <a:alphaModFix/>
          </a:blip>
          <a:srcRect b="0" l="0" r="0" t="0"/>
          <a:stretch/>
        </p:blipFill>
        <p:spPr>
          <a:xfrm>
            <a:off x="6553505" y="228600"/>
            <a:ext cx="2057400" cy="634594"/>
          </a:xfrm>
          <a:prstGeom prst="rect">
            <a:avLst/>
          </a:prstGeom>
          <a:noFill/>
          <a:ln>
            <a:noFill/>
          </a:ln>
        </p:spPr>
      </p:pic>
      <p:sp>
        <p:nvSpPr>
          <p:cNvPr id="161" name="Google Shape;161;p11"/>
          <p:cNvSpPr/>
          <p:nvPr/>
        </p:nvSpPr>
        <p:spPr>
          <a:xfrm>
            <a:off x="0" y="6656832"/>
            <a:ext cx="9144000" cy="201168"/>
          </a:xfrm>
          <a:prstGeom prst="rect">
            <a:avLst/>
          </a:prstGeom>
          <a:solidFill>
            <a:srgbClr val="FF0000"/>
          </a:solidFill>
          <a:ln cap="flat" cmpd="sng" w="127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a:off x="274320" y="92903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Times New Roman"/>
              <a:buNone/>
            </a:pPr>
            <a:r>
              <a:rPr b="1" i="0" lang="en-US" sz="3500" u="none" cap="none" strike="noStrike">
                <a:solidFill>
                  <a:srgbClr val="000000"/>
                </a:solidFill>
                <a:latin typeface="Times New Roman"/>
                <a:ea typeface="Times New Roman"/>
                <a:cs typeface="Times New Roman"/>
                <a:sym typeface="Times New Roman"/>
              </a:rPr>
              <a:t>Conclusion</a:t>
            </a:r>
            <a:endParaRPr b="0" i="0" sz="3500" u="none" cap="none" strike="noStrike">
              <a:solidFill>
                <a:schemeClr val="dk1"/>
              </a:solidFill>
              <a:latin typeface="Calibri"/>
              <a:ea typeface="Calibri"/>
              <a:cs typeface="Calibri"/>
              <a:sym typeface="Calibri"/>
            </a:endParaRPr>
          </a:p>
        </p:txBody>
      </p:sp>
      <p:sp>
        <p:nvSpPr>
          <p:cNvPr id="163" name="Google Shape;163;p11"/>
          <p:cNvSpPr/>
          <p:nvPr/>
        </p:nvSpPr>
        <p:spPr>
          <a:xfrm>
            <a:off x="274320" y="1450238"/>
            <a:ext cx="8595360" cy="22860"/>
          </a:xfrm>
          <a:prstGeom prst="rect">
            <a:avLst/>
          </a:prstGeom>
          <a:solidFill>
            <a:srgbClr val="CCCCCC"/>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1"/>
          <p:cNvSpPr/>
          <p:nvPr/>
        </p:nvSpPr>
        <p:spPr>
          <a:xfrm>
            <a:off x="8686800" y="6492240"/>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F81BD"/>
              </a:buClr>
              <a:buSzPts val="1200"/>
              <a:buFont typeface="Times New Roman"/>
              <a:buNone/>
            </a:pPr>
            <a:r>
              <a:rPr b="0" i="0" lang="en-US" sz="1200" u="none" cap="none" strike="noStrike">
                <a:solidFill>
                  <a:srgbClr val="4F81BD"/>
                </a:solidFill>
                <a:latin typeface="Times New Roman"/>
                <a:ea typeface="Times New Roman"/>
                <a:cs typeface="Times New Roman"/>
                <a:sym typeface="Times New Roman"/>
              </a:rPr>
              <a:t>9</a:t>
            </a:r>
            <a:endParaRPr b="0" i="0" sz="1200" u="none" cap="none" strike="noStrike">
              <a:solidFill>
                <a:schemeClr val="dk1"/>
              </a:solidFill>
              <a:latin typeface="Calibri"/>
              <a:ea typeface="Calibri"/>
              <a:cs typeface="Calibri"/>
              <a:sym typeface="Calibri"/>
            </a:endParaRPr>
          </a:p>
        </p:txBody>
      </p:sp>
      <p:sp>
        <p:nvSpPr>
          <p:cNvPr id="165" name="Google Shape;165;p11"/>
          <p:cNvSpPr/>
          <p:nvPr/>
        </p:nvSpPr>
        <p:spPr>
          <a:xfrm>
            <a:off x="365760" y="1569110"/>
            <a:ext cx="8412480" cy="4114800"/>
          </a:xfrm>
          <a:prstGeom prst="rect">
            <a:avLst/>
          </a:prstGeom>
          <a:noFill/>
          <a:ln>
            <a:noFill/>
          </a:ln>
        </p:spPr>
        <p:txBody>
          <a:bodyPr anchorCtr="0" anchor="ctr" bIns="45700" lIns="91425" spcFirstLastPara="1" rIns="91425" wrap="square" tIns="45700">
            <a:noAutofit/>
          </a:bodyPr>
          <a:lstStyle/>
          <a:p>
            <a:pPr indent="-374650" lvl="0" marL="342900" marR="0" rtl="0" algn="l">
              <a:spcBef>
                <a:spcPts val="0"/>
              </a:spcBef>
              <a:spcAft>
                <a:spcPts val="0"/>
              </a:spcAft>
              <a:buClr>
                <a:srgbClr val="000000"/>
              </a:buClr>
              <a:buSzPts val="1900"/>
              <a:buFont typeface="Times New Roman"/>
              <a:buChar char="•"/>
            </a:pPr>
            <a:r>
              <a:rPr b="0" i="0" lang="en-US" sz="1900" u="none" cap="none" strike="noStrike">
                <a:solidFill>
                  <a:srgbClr val="000000"/>
                </a:solidFill>
                <a:latin typeface="Times New Roman"/>
                <a:ea typeface="Times New Roman"/>
                <a:cs typeface="Times New Roman"/>
                <a:sym typeface="Times New Roman"/>
              </a:rPr>
              <a:t>Log anomaly detection is essential as distributed systems grow in complexity and scale.</a:t>
            </a:r>
            <a:endParaRPr b="0" i="0" sz="1900" u="none" cap="none" strike="noStrike">
              <a:solidFill>
                <a:schemeClr val="dk1"/>
              </a:solidFill>
              <a:latin typeface="Calibri"/>
              <a:ea typeface="Calibri"/>
              <a:cs typeface="Calibri"/>
              <a:sym typeface="Calibri"/>
            </a:endParaRPr>
          </a:p>
          <a:p>
            <a:pPr indent="-374650" lvl="0" marL="342900" marR="0" rtl="0" algn="l">
              <a:spcBef>
                <a:spcPts val="600"/>
              </a:spcBef>
              <a:spcAft>
                <a:spcPts val="0"/>
              </a:spcAft>
              <a:buClr>
                <a:srgbClr val="000000"/>
              </a:buClr>
              <a:buSzPts val="1900"/>
              <a:buFont typeface="Times New Roman"/>
              <a:buChar char="•"/>
            </a:pPr>
            <a:r>
              <a:rPr b="0" i="0" lang="en-US" sz="1900" u="none" cap="none" strike="noStrike">
                <a:solidFill>
                  <a:srgbClr val="000000"/>
                </a:solidFill>
                <a:latin typeface="Times New Roman"/>
                <a:ea typeface="Times New Roman"/>
                <a:cs typeface="Times New Roman"/>
                <a:sym typeface="Times New Roman"/>
              </a:rPr>
              <a:t>Traditional rule-based systems offer simplicity and low latency but struggle to adapt to evolving anomaly patterns, leading to high false positive rates.</a:t>
            </a:r>
            <a:endParaRPr b="0" i="0" sz="1900" u="none" cap="none" strike="noStrike">
              <a:solidFill>
                <a:schemeClr val="dk1"/>
              </a:solidFill>
              <a:latin typeface="Calibri"/>
              <a:ea typeface="Calibri"/>
              <a:cs typeface="Calibri"/>
              <a:sym typeface="Calibri"/>
            </a:endParaRPr>
          </a:p>
          <a:p>
            <a:pPr indent="-374650" lvl="0" marL="342900" marR="0" rtl="0" algn="l">
              <a:spcBef>
                <a:spcPts val="600"/>
              </a:spcBef>
              <a:spcAft>
                <a:spcPts val="0"/>
              </a:spcAft>
              <a:buClr>
                <a:srgbClr val="000000"/>
              </a:buClr>
              <a:buSzPts val="1900"/>
              <a:buFont typeface="Times New Roman"/>
              <a:buChar char="•"/>
            </a:pPr>
            <a:r>
              <a:rPr b="0" i="0" lang="en-US" sz="1900" u="none" cap="none" strike="noStrike">
                <a:solidFill>
                  <a:srgbClr val="000000"/>
                </a:solidFill>
                <a:latin typeface="Times New Roman"/>
                <a:ea typeface="Times New Roman"/>
                <a:cs typeface="Times New Roman"/>
                <a:sym typeface="Times New Roman"/>
              </a:rPr>
              <a:t>Machine learning models, especially Isolation Forest, demonstrate superior adaptability and improved detection accuracy on dynamic log datasets.</a:t>
            </a:r>
            <a:endParaRPr b="0" i="0" sz="1900" u="none" cap="none" strike="noStrike">
              <a:solidFill>
                <a:schemeClr val="dk1"/>
              </a:solidFill>
              <a:latin typeface="Calibri"/>
              <a:ea typeface="Calibri"/>
              <a:cs typeface="Calibri"/>
              <a:sym typeface="Calibri"/>
            </a:endParaRPr>
          </a:p>
          <a:p>
            <a:pPr indent="-374650" lvl="0" marL="342900" marR="0" rtl="0" algn="l">
              <a:spcBef>
                <a:spcPts val="600"/>
              </a:spcBef>
              <a:spcAft>
                <a:spcPts val="0"/>
              </a:spcAft>
              <a:buClr>
                <a:srgbClr val="000000"/>
              </a:buClr>
              <a:buSzPts val="1900"/>
              <a:buFont typeface="Times New Roman"/>
              <a:buChar char="•"/>
            </a:pPr>
            <a:r>
              <a:rPr b="0" i="0" lang="en-US" sz="1900" u="none" cap="none" strike="noStrike">
                <a:solidFill>
                  <a:srgbClr val="000000"/>
                </a:solidFill>
                <a:latin typeface="Times New Roman"/>
                <a:ea typeface="Times New Roman"/>
                <a:cs typeface="Times New Roman"/>
                <a:sym typeface="Times New Roman"/>
              </a:rPr>
              <a:t>Logistic Regression performs well on structured, labeled datasets but is limited against novel, unseen anomaly types.</a:t>
            </a:r>
            <a:endParaRPr b="0" i="0" sz="1900" u="none" cap="none" strike="noStrike">
              <a:solidFill>
                <a:schemeClr val="dk1"/>
              </a:solidFill>
              <a:latin typeface="Calibri"/>
              <a:ea typeface="Calibri"/>
              <a:cs typeface="Calibri"/>
              <a:sym typeface="Calibri"/>
            </a:endParaRPr>
          </a:p>
          <a:p>
            <a:pPr indent="-374650" lvl="0" marL="342900" marR="0" rtl="0" algn="l">
              <a:spcBef>
                <a:spcPts val="600"/>
              </a:spcBef>
              <a:spcAft>
                <a:spcPts val="0"/>
              </a:spcAft>
              <a:buClr>
                <a:srgbClr val="000000"/>
              </a:buClr>
              <a:buSzPts val="1900"/>
              <a:buFont typeface="Times New Roman"/>
              <a:buChar char="•"/>
            </a:pPr>
            <a:r>
              <a:rPr b="0" i="0" lang="en-US" sz="1900" u="none" cap="none" strike="noStrike">
                <a:solidFill>
                  <a:srgbClr val="000000"/>
                </a:solidFill>
                <a:latin typeface="Times New Roman"/>
                <a:ea typeface="Times New Roman"/>
                <a:cs typeface="Times New Roman"/>
                <a:sym typeface="Times New Roman"/>
              </a:rPr>
              <a:t>Rule-based methods remain valuable in latency-critical environments where computational efficiency is paramount.</a:t>
            </a:r>
            <a:endParaRPr b="0" i="0" sz="1900" u="none" cap="none" strike="noStrike">
              <a:solidFill>
                <a:schemeClr val="dk1"/>
              </a:solidFill>
              <a:latin typeface="Calibri"/>
              <a:ea typeface="Calibri"/>
              <a:cs typeface="Calibri"/>
              <a:sym typeface="Calibri"/>
            </a:endParaRPr>
          </a:p>
          <a:p>
            <a:pPr indent="-374650" lvl="0" marL="342900" marR="0" rtl="0" algn="l">
              <a:spcBef>
                <a:spcPts val="600"/>
              </a:spcBef>
              <a:spcAft>
                <a:spcPts val="0"/>
              </a:spcAft>
              <a:buClr>
                <a:srgbClr val="000000"/>
              </a:buClr>
              <a:buSzPts val="1900"/>
              <a:buFont typeface="Times New Roman"/>
              <a:buChar char="•"/>
            </a:pPr>
            <a:r>
              <a:rPr b="0" i="0" lang="en-US" sz="1900" u="none" cap="none" strike="noStrike">
                <a:solidFill>
                  <a:srgbClr val="000000"/>
                </a:solidFill>
                <a:latin typeface="Times New Roman"/>
                <a:ea typeface="Times New Roman"/>
                <a:cs typeface="Times New Roman"/>
                <a:sym typeface="Times New Roman"/>
              </a:rPr>
              <a:t>Hybrid frameworks combining both approaches offer the most promising path for scalable, intelligent backend monitoring systems.</a:t>
            </a:r>
            <a:endParaRPr b="0" i="0" sz="1900" u="none" cap="none" strike="noStrike">
              <a:solidFill>
                <a:schemeClr val="dk1"/>
              </a:solidFill>
              <a:latin typeface="Calibri"/>
              <a:ea typeface="Calibri"/>
              <a:cs typeface="Calibri"/>
              <a:sym typeface="Calibri"/>
            </a:endParaRPr>
          </a:p>
        </p:txBody>
      </p:sp>
      <p:sp>
        <p:nvSpPr>
          <p:cNvPr id="166" name="Google Shape;166;p11"/>
          <p:cNvSpPr/>
          <p:nvPr/>
        </p:nvSpPr>
        <p:spPr>
          <a:xfrm>
            <a:off x="365760" y="5852160"/>
            <a:ext cx="8412480" cy="502920"/>
          </a:xfrm>
          <a:prstGeom prst="rect">
            <a:avLst/>
          </a:prstGeom>
          <a:solidFill>
            <a:srgbClr val="1F497D"/>
          </a:solidFill>
          <a:ln cap="flat" cmpd="sng" w="12700">
            <a:solidFill>
              <a:srgbClr val="1F497D"/>
            </a:solidFill>
            <a:prstDash val="solid"/>
            <a:round/>
            <a:headEnd len="sm" w="sm" type="none"/>
            <a:tailEnd len="sm" w="sm" type="none"/>
          </a:ln>
          <a:effectLst>
            <a:outerShdw blurRad="508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a:off x="365760" y="5852160"/>
            <a:ext cx="84124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Times New Roman"/>
              <a:buNone/>
            </a:pPr>
            <a:r>
              <a:rPr b="1" i="0" lang="en-US" sz="1300" u="none" cap="none" strike="noStrike">
                <a:solidFill>
                  <a:srgbClr val="FFFFFF"/>
                </a:solidFill>
                <a:latin typeface="Times New Roman"/>
                <a:ea typeface="Times New Roman"/>
                <a:cs typeface="Times New Roman"/>
                <a:sym typeface="Times New Roman"/>
              </a:rPr>
              <a:t>Key Insight: The ideal monitoring system blends rule-based speed with ML-driven intelligence for robust anomaly detection.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sp>
        <p:nvSpPr>
          <p:cNvPr id="173" name="Google Shape;173;p12"/>
          <p:cNvSpPr/>
          <p:nvPr/>
        </p:nvSpPr>
        <p:spPr>
          <a:xfrm>
            <a:off x="0" y="0"/>
            <a:ext cx="9144000" cy="837590"/>
          </a:xfrm>
          <a:prstGeom prst="rect">
            <a:avLst/>
          </a:prstGeom>
          <a:solidFill>
            <a:srgbClr val="FF3300"/>
          </a:solidFill>
          <a:ln cap="flat" cmpd="sng" w="12700">
            <a:solidFill>
              <a:srgbClr val="FF3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logo2.jpeg" id="174" name="Google Shape;174;p12"/>
          <p:cNvPicPr preferRelativeResize="0"/>
          <p:nvPr/>
        </p:nvPicPr>
        <p:blipFill rotWithShape="1">
          <a:blip r:embed="rId3">
            <a:alphaModFix/>
          </a:blip>
          <a:srcRect b="0" l="0" r="0" t="0"/>
          <a:stretch/>
        </p:blipFill>
        <p:spPr>
          <a:xfrm>
            <a:off x="6553505" y="228600"/>
            <a:ext cx="2057400" cy="634594"/>
          </a:xfrm>
          <a:prstGeom prst="rect">
            <a:avLst/>
          </a:prstGeom>
          <a:noFill/>
          <a:ln>
            <a:noFill/>
          </a:ln>
        </p:spPr>
      </p:pic>
      <p:sp>
        <p:nvSpPr>
          <p:cNvPr id="175" name="Google Shape;175;p12"/>
          <p:cNvSpPr/>
          <p:nvPr/>
        </p:nvSpPr>
        <p:spPr>
          <a:xfrm>
            <a:off x="0" y="6656832"/>
            <a:ext cx="9144000" cy="201168"/>
          </a:xfrm>
          <a:prstGeom prst="rect">
            <a:avLst/>
          </a:prstGeom>
          <a:solidFill>
            <a:srgbClr val="FF0000"/>
          </a:solidFill>
          <a:ln cap="flat" cmpd="sng" w="127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2"/>
          <p:cNvSpPr/>
          <p:nvPr/>
        </p:nvSpPr>
        <p:spPr>
          <a:xfrm>
            <a:off x="274320" y="92903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Times New Roman"/>
              <a:buNone/>
            </a:pPr>
            <a:r>
              <a:rPr b="1" i="0" lang="en-US" sz="3500" u="none" cap="none" strike="noStrike">
                <a:solidFill>
                  <a:srgbClr val="000000"/>
                </a:solidFill>
                <a:latin typeface="Times New Roman"/>
                <a:ea typeface="Times New Roman"/>
                <a:cs typeface="Times New Roman"/>
                <a:sym typeface="Times New Roman"/>
              </a:rPr>
              <a:t>References</a:t>
            </a:r>
            <a:endParaRPr b="0" i="0" sz="3500" u="none" cap="none" strike="noStrike">
              <a:solidFill>
                <a:schemeClr val="dk1"/>
              </a:solidFill>
              <a:latin typeface="Calibri"/>
              <a:ea typeface="Calibri"/>
              <a:cs typeface="Calibri"/>
              <a:sym typeface="Calibri"/>
            </a:endParaRPr>
          </a:p>
        </p:txBody>
      </p:sp>
      <p:sp>
        <p:nvSpPr>
          <p:cNvPr id="177" name="Google Shape;177;p12"/>
          <p:cNvSpPr/>
          <p:nvPr/>
        </p:nvSpPr>
        <p:spPr>
          <a:xfrm>
            <a:off x="274320" y="1450238"/>
            <a:ext cx="8595360" cy="22860"/>
          </a:xfrm>
          <a:prstGeom prst="rect">
            <a:avLst/>
          </a:prstGeom>
          <a:solidFill>
            <a:srgbClr val="CCCCCC"/>
          </a:solidFill>
          <a:ln cap="flat" cmpd="sng" w="127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2"/>
          <p:cNvSpPr/>
          <p:nvPr/>
        </p:nvSpPr>
        <p:spPr>
          <a:xfrm>
            <a:off x="8686800" y="6492240"/>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F81BD"/>
              </a:buClr>
              <a:buSzPts val="1200"/>
              <a:buFont typeface="Times New Roman"/>
              <a:buNone/>
            </a:pPr>
            <a:r>
              <a:rPr b="0" i="0" lang="en-US" sz="1200" u="none" cap="none" strike="noStrike">
                <a:solidFill>
                  <a:srgbClr val="4F81BD"/>
                </a:solidFill>
                <a:latin typeface="Times New Roman"/>
                <a:ea typeface="Times New Roman"/>
                <a:cs typeface="Times New Roman"/>
                <a:sym typeface="Times New Roman"/>
              </a:rPr>
              <a:t>10</a:t>
            </a:r>
            <a:endParaRPr b="0" i="0" sz="1200" u="none" cap="none" strike="noStrike">
              <a:solidFill>
                <a:schemeClr val="dk1"/>
              </a:solidFill>
              <a:latin typeface="Calibri"/>
              <a:ea typeface="Calibri"/>
              <a:cs typeface="Calibri"/>
              <a:sym typeface="Calibri"/>
            </a:endParaRPr>
          </a:p>
        </p:txBody>
      </p:sp>
      <p:sp>
        <p:nvSpPr>
          <p:cNvPr id="179" name="Google Shape;179;p12"/>
          <p:cNvSpPr/>
          <p:nvPr/>
        </p:nvSpPr>
        <p:spPr>
          <a:xfrm>
            <a:off x="365760" y="1569110"/>
            <a:ext cx="8412480" cy="5303520"/>
          </a:xfrm>
          <a:prstGeom prst="rect">
            <a:avLst/>
          </a:prstGeom>
          <a:noFill/>
          <a:ln>
            <a:noFill/>
          </a:ln>
        </p:spPr>
        <p:txBody>
          <a:bodyPr anchorCtr="0" anchor="ctr" bIns="45700" lIns="91425" spcFirstLastPara="1" rIns="91425" wrap="square" tIns="45700">
            <a:noAutofit/>
          </a:bodyPr>
          <a:lstStyle/>
          <a:p>
            <a:pPr indent="-381000" lvl="0" marL="342900" marR="0" rtl="0" algn="l">
              <a:spcBef>
                <a:spcPts val="0"/>
              </a:spcBef>
              <a:spcAft>
                <a:spcPts val="0"/>
              </a:spcAft>
              <a:buClr>
                <a:srgbClr val="000000"/>
              </a:buClr>
              <a:buSzPts val="1900"/>
              <a:buFont typeface="Calibri"/>
              <a:buAutoNum type="arabicPeriod"/>
            </a:pPr>
            <a:r>
              <a:rPr b="0" i="0" lang="en-US" sz="1900" u="none" cap="none" strike="noStrike">
                <a:solidFill>
                  <a:srgbClr val="000000"/>
                </a:solidFill>
                <a:latin typeface="Times New Roman"/>
                <a:ea typeface="Times New Roman"/>
                <a:cs typeface="Times New Roman"/>
                <a:sym typeface="Times New Roman"/>
              </a:rPr>
              <a:t>S. Hussein and S. Répás, "Anomaly detection in log files based on machine learning techniques," Journal of Electrical Systems, 2024.</a:t>
            </a:r>
            <a:endParaRPr b="0" i="0" sz="1900" u="none" cap="none" strike="noStrike">
              <a:solidFill>
                <a:schemeClr val="dk1"/>
              </a:solidFill>
              <a:latin typeface="Calibri"/>
              <a:ea typeface="Calibri"/>
              <a:cs typeface="Calibri"/>
              <a:sym typeface="Calibri"/>
            </a:endParaRPr>
          </a:p>
          <a:p>
            <a:pPr indent="-381000" lvl="0" marL="342900" marR="0" rtl="0" algn="l">
              <a:spcBef>
                <a:spcPts val="500"/>
              </a:spcBef>
              <a:spcAft>
                <a:spcPts val="0"/>
              </a:spcAft>
              <a:buClr>
                <a:srgbClr val="000000"/>
              </a:buClr>
              <a:buSzPts val="1900"/>
              <a:buFont typeface="Calibri"/>
              <a:buAutoNum type="arabicPeriod"/>
            </a:pPr>
            <a:r>
              <a:rPr b="0" i="0" lang="en-US" sz="1900" u="none" cap="none" strike="noStrike">
                <a:solidFill>
                  <a:srgbClr val="000000"/>
                </a:solidFill>
                <a:latin typeface="Times New Roman"/>
                <a:ea typeface="Times New Roman"/>
                <a:cs typeface="Times New Roman"/>
                <a:sym typeface="Times New Roman"/>
              </a:rPr>
              <a:t>Y. Lee, J. Kim, P. Kang, "LAnoBERT: System log anomaly detection based on BERT masked language model," 2021.</a:t>
            </a:r>
            <a:endParaRPr b="0" i="0" sz="1900" u="none" cap="none" strike="noStrike">
              <a:solidFill>
                <a:schemeClr val="dk1"/>
              </a:solidFill>
              <a:latin typeface="Calibri"/>
              <a:ea typeface="Calibri"/>
              <a:cs typeface="Calibri"/>
              <a:sym typeface="Calibri"/>
            </a:endParaRPr>
          </a:p>
          <a:p>
            <a:pPr indent="-381000" lvl="0" marL="342900" marR="0" rtl="0" algn="l">
              <a:spcBef>
                <a:spcPts val="500"/>
              </a:spcBef>
              <a:spcAft>
                <a:spcPts val="0"/>
              </a:spcAft>
              <a:buClr>
                <a:srgbClr val="000000"/>
              </a:buClr>
              <a:buSzPts val="1900"/>
              <a:buFont typeface="Calibri"/>
              <a:buAutoNum type="arabicPeriod"/>
            </a:pPr>
            <a:r>
              <a:rPr b="0" i="0" lang="en-US" sz="1900" u="none" cap="none" strike="noStrike">
                <a:solidFill>
                  <a:srgbClr val="000000"/>
                </a:solidFill>
                <a:latin typeface="Times New Roman"/>
                <a:ea typeface="Times New Roman"/>
                <a:cs typeface="Times New Roman"/>
                <a:sym typeface="Times New Roman"/>
              </a:rPr>
              <a:t>Y. Xie, H. Zhang, M. A. Babar, "LogGD: Detecting anomalies from system logs using graph neural networks," 2022.</a:t>
            </a:r>
            <a:endParaRPr b="0" i="0" sz="1900" u="none" cap="none" strike="noStrike">
              <a:solidFill>
                <a:schemeClr val="dk1"/>
              </a:solidFill>
              <a:latin typeface="Calibri"/>
              <a:ea typeface="Calibri"/>
              <a:cs typeface="Calibri"/>
              <a:sym typeface="Calibri"/>
            </a:endParaRPr>
          </a:p>
          <a:p>
            <a:pPr indent="-381000" lvl="0" marL="342900" marR="0" rtl="0" algn="l">
              <a:spcBef>
                <a:spcPts val="500"/>
              </a:spcBef>
              <a:spcAft>
                <a:spcPts val="0"/>
              </a:spcAft>
              <a:buClr>
                <a:srgbClr val="000000"/>
              </a:buClr>
              <a:buSzPts val="1900"/>
              <a:buFont typeface="Calibri"/>
              <a:buAutoNum type="arabicPeriod"/>
            </a:pPr>
            <a:r>
              <a:rPr b="0" i="0" lang="en-US" sz="1900" u="none" cap="none" strike="noStrike">
                <a:solidFill>
                  <a:srgbClr val="000000"/>
                </a:solidFill>
                <a:latin typeface="Times New Roman"/>
                <a:ea typeface="Times New Roman"/>
                <a:cs typeface="Times New Roman"/>
                <a:sym typeface="Times New Roman"/>
              </a:rPr>
              <a:t>B. Du et al., "DeepLog: Anomaly detection and diagnosis from system logs through deep learning," IEEE Conference on Computer Communications.</a:t>
            </a:r>
            <a:endParaRPr b="0" i="0" sz="1900" u="none" cap="none" strike="noStrike">
              <a:solidFill>
                <a:schemeClr val="dk1"/>
              </a:solidFill>
              <a:latin typeface="Calibri"/>
              <a:ea typeface="Calibri"/>
              <a:cs typeface="Calibri"/>
              <a:sym typeface="Calibri"/>
            </a:endParaRPr>
          </a:p>
          <a:p>
            <a:pPr indent="-381000" lvl="0" marL="342900" marR="0" rtl="0" algn="l">
              <a:spcBef>
                <a:spcPts val="500"/>
              </a:spcBef>
              <a:spcAft>
                <a:spcPts val="0"/>
              </a:spcAft>
              <a:buClr>
                <a:srgbClr val="000000"/>
              </a:buClr>
              <a:buSzPts val="1900"/>
              <a:buFont typeface="Calibri"/>
              <a:buAutoNum type="arabicPeriod"/>
            </a:pPr>
            <a:r>
              <a:rPr b="0" i="0" lang="en-US" sz="1900" u="none" cap="none" strike="noStrike">
                <a:solidFill>
                  <a:srgbClr val="000000"/>
                </a:solidFill>
                <a:latin typeface="Times New Roman"/>
                <a:ea typeface="Times New Roman"/>
                <a:cs typeface="Times New Roman"/>
                <a:sym typeface="Times New Roman"/>
              </a:rPr>
              <a:t>J. Yang et al., "Improved principal component analysis for log anomaly detection," 2023.</a:t>
            </a:r>
            <a:endParaRPr b="0" i="0" sz="1900" u="none" cap="none" strike="noStrike">
              <a:solidFill>
                <a:schemeClr val="dk1"/>
              </a:solidFill>
              <a:latin typeface="Calibri"/>
              <a:ea typeface="Calibri"/>
              <a:cs typeface="Calibri"/>
              <a:sym typeface="Calibri"/>
            </a:endParaRPr>
          </a:p>
          <a:p>
            <a:pPr indent="-381000" lvl="0" marL="342900" marR="0" rtl="0" algn="l">
              <a:spcBef>
                <a:spcPts val="500"/>
              </a:spcBef>
              <a:spcAft>
                <a:spcPts val="0"/>
              </a:spcAft>
              <a:buClr>
                <a:srgbClr val="000000"/>
              </a:buClr>
              <a:buSzPts val="1900"/>
              <a:buFont typeface="Calibri"/>
              <a:buAutoNum type="arabicPeriod"/>
            </a:pPr>
            <a:r>
              <a:rPr b="0" i="0" lang="en-US" sz="1900" u="none" cap="none" strike="noStrike">
                <a:solidFill>
                  <a:srgbClr val="000000"/>
                </a:solidFill>
                <a:latin typeface="Times New Roman"/>
                <a:ea typeface="Times New Roman"/>
                <a:cs typeface="Times New Roman"/>
                <a:sym typeface="Times New Roman"/>
              </a:rPr>
              <a:t>Q. Zhang et al., "Log anomaly detection using contrastive learning and retrieval augmentation," Scientific Reports, 2025.</a:t>
            </a:r>
            <a:endParaRPr b="0" i="0" sz="1900" u="none" cap="none" strike="noStrike">
              <a:solidFill>
                <a:schemeClr val="dk1"/>
              </a:solidFill>
              <a:latin typeface="Calibri"/>
              <a:ea typeface="Calibri"/>
              <a:cs typeface="Calibri"/>
              <a:sym typeface="Calibri"/>
            </a:endParaRPr>
          </a:p>
          <a:p>
            <a:pPr indent="-381000" lvl="0" marL="342900" marR="0" rtl="0" algn="l">
              <a:spcBef>
                <a:spcPts val="500"/>
              </a:spcBef>
              <a:spcAft>
                <a:spcPts val="0"/>
              </a:spcAft>
              <a:buClr>
                <a:srgbClr val="000000"/>
              </a:buClr>
              <a:buSzPts val="1900"/>
              <a:buFont typeface="Calibri"/>
              <a:buAutoNum type="arabicPeriod"/>
            </a:pPr>
            <a:r>
              <a:rPr b="0" i="0" lang="en-US" sz="1900" u="none" cap="none" strike="noStrike">
                <a:solidFill>
                  <a:srgbClr val="000000"/>
                </a:solidFill>
                <a:latin typeface="Times New Roman"/>
                <a:ea typeface="Times New Roman"/>
                <a:cs typeface="Times New Roman"/>
                <a:sym typeface="Times New Roman"/>
              </a:rPr>
              <a:t>QLLog: Log anomaly detection based on Q-learning algorithm, Information Processing &amp; Management.</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13"/>
          <p:cNvSpPr/>
          <p:nvPr/>
        </p:nvSpPr>
        <p:spPr>
          <a:xfrm>
            <a:off x="0" y="0"/>
            <a:ext cx="9144000" cy="837590"/>
          </a:xfrm>
          <a:prstGeom prst="rect">
            <a:avLst/>
          </a:prstGeom>
          <a:solidFill>
            <a:srgbClr val="FF3300"/>
          </a:solidFill>
          <a:ln cap="flat" cmpd="sng" w="12700">
            <a:solidFill>
              <a:srgbClr val="FF3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logo2.jpeg" id="186" name="Google Shape;186;p13"/>
          <p:cNvPicPr preferRelativeResize="0"/>
          <p:nvPr/>
        </p:nvPicPr>
        <p:blipFill rotWithShape="1">
          <a:blip r:embed="rId3">
            <a:alphaModFix/>
          </a:blip>
          <a:srcRect b="0" l="0" r="0" t="0"/>
          <a:stretch/>
        </p:blipFill>
        <p:spPr>
          <a:xfrm>
            <a:off x="6553505" y="228600"/>
            <a:ext cx="2057400" cy="634594"/>
          </a:xfrm>
          <a:prstGeom prst="rect">
            <a:avLst/>
          </a:prstGeom>
          <a:noFill/>
          <a:ln>
            <a:noFill/>
          </a:ln>
        </p:spPr>
      </p:pic>
      <p:sp>
        <p:nvSpPr>
          <p:cNvPr id="187" name="Google Shape;187;p13"/>
          <p:cNvSpPr/>
          <p:nvPr/>
        </p:nvSpPr>
        <p:spPr>
          <a:xfrm>
            <a:off x="0" y="6656832"/>
            <a:ext cx="9144000" cy="201168"/>
          </a:xfrm>
          <a:prstGeom prst="rect">
            <a:avLst/>
          </a:prstGeom>
          <a:solidFill>
            <a:srgbClr val="FF0000"/>
          </a:solidFill>
          <a:ln cap="flat" cmpd="sng" w="127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3"/>
          <p:cNvSpPr/>
          <p:nvPr/>
        </p:nvSpPr>
        <p:spPr>
          <a:xfrm>
            <a:off x="914400" y="2286000"/>
            <a:ext cx="731520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97D"/>
              </a:buClr>
              <a:buSzPts val="5400"/>
              <a:buFont typeface="Times New Roman"/>
              <a:buNone/>
            </a:pPr>
            <a:r>
              <a:rPr b="1" i="0" lang="en-US" sz="5400" u="none" cap="none" strike="noStrike">
                <a:solidFill>
                  <a:srgbClr val="1F497D"/>
                </a:solidFill>
                <a:latin typeface="Times New Roman"/>
                <a:ea typeface="Times New Roman"/>
                <a:cs typeface="Times New Roman"/>
                <a:sym typeface="Times New Roman"/>
              </a:rPr>
              <a:t>Thank You</a:t>
            </a:r>
            <a:endParaRPr b="0" i="0" sz="5400" u="none" cap="none" strike="noStrike">
              <a:solidFill>
                <a:schemeClr val="dk1"/>
              </a:solidFill>
              <a:latin typeface="Calibri"/>
              <a:ea typeface="Calibri"/>
              <a:cs typeface="Calibri"/>
              <a:sym typeface="Calibri"/>
            </a:endParaRPr>
          </a:p>
        </p:txBody>
      </p:sp>
      <p:sp>
        <p:nvSpPr>
          <p:cNvPr id="189" name="Google Shape;189;p13"/>
          <p:cNvSpPr/>
          <p:nvPr/>
        </p:nvSpPr>
        <p:spPr>
          <a:xfrm>
            <a:off x="914400" y="3749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2200"/>
              <a:buFont typeface="Times New Roman"/>
              <a:buNone/>
            </a:pPr>
            <a:r>
              <a:t/>
            </a:r>
            <a:endParaRPr b="0" i="0" sz="2200" u="none" cap="none" strike="noStrike">
              <a:solidFill>
                <a:schemeClr val="dk1"/>
              </a:solidFill>
              <a:latin typeface="Calibri"/>
              <a:ea typeface="Calibri"/>
              <a:cs typeface="Calibri"/>
              <a:sym typeface="Calibri"/>
            </a:endParaRPr>
          </a:p>
        </p:txBody>
      </p:sp>
      <p:sp>
        <p:nvSpPr>
          <p:cNvPr id="190" name="Google Shape;190;p13"/>
          <p:cNvSpPr/>
          <p:nvPr/>
        </p:nvSpPr>
        <p:spPr>
          <a:xfrm>
            <a:off x="8686800" y="6492240"/>
            <a:ext cx="36576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F81BD"/>
              </a:buClr>
              <a:buSzPts val="1200"/>
              <a:buFont typeface="Times New Roman"/>
              <a:buNone/>
            </a:pPr>
            <a:r>
              <a:rPr b="0" i="0" lang="en-US" sz="1200" u="none" cap="none" strike="noStrike">
                <a:solidFill>
                  <a:srgbClr val="4F81BD"/>
                </a:solidFill>
                <a:latin typeface="Times New Roman"/>
                <a:ea typeface="Times New Roman"/>
                <a:cs typeface="Times New Roman"/>
                <a:sym typeface="Times New Roman"/>
              </a:rPr>
              <a:t>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